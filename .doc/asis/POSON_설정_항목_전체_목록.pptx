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algun Gothic"/>
              </a:defRPr>
            </a:pPr>
            <a:r>
              <a:t>POSON POS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설정 항목 전체 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D4BF"/>
                </a:solidFill>
                <a:latin typeface="Malgun Gothic"/>
              </a:defRPr>
            </a:pPr>
            <a:r>
              <a:t>공통 환경설정 (SettingsView) + 기기별 설정 (DevicesView)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572000"/>
            <a:ext cx="237744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4663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총 설정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5074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319개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4572000"/>
            <a:ext cx="237744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4663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5074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SystemSetting + DeviceSetting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572000"/>
            <a:ext cx="237744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4663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분석일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5074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2026-02-19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전체 현황 요약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18288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DD4BF"/>
                </a:solidFill>
                <a:latin typeface="Malgun Gothic"/>
              </a:defRPr>
            </a:pPr>
            <a:r>
              <a:t>319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전체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914400"/>
            <a:ext cx="18288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0515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Malgun Gothic"/>
              </a:defRPr>
            </a:pPr>
            <a:r>
              <a:t>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공통 환경설정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914400"/>
            <a:ext cx="18288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0515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ADE80"/>
                </a:solidFill>
                <a:latin typeface="Malgun Gothic"/>
              </a:defRPr>
            </a:pPr>
            <a:r>
              <a:t>217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기기별 설정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914400"/>
            <a:ext cx="18288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0515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BBF24"/>
                </a:solidFill>
                <a:latin typeface="Malgun Gothic"/>
              </a:defRPr>
            </a:pPr>
            <a:r>
              <a:t>215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토글 항목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914400"/>
            <a:ext cx="18288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0515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78BFA"/>
                </a:solidFill>
                <a:latin typeface="Malgun Gothic"/>
              </a:defRPr>
            </a:pPr>
            <a: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입력 항목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0" y="914400"/>
            <a:ext cx="18288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10515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472B6"/>
                </a:solidFill>
                <a:latin typeface="Malgun Gothic"/>
              </a:defRPr>
            </a:pPr>
            <a:r>
              <a:t>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선택 항목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algun Gothic"/>
              </a:defRPr>
            </a:pPr>
            <a:r>
              <a:t>공통 환경설정 (SystemSetting)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880360"/>
            <a:ext cx="5486400" cy="32004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9864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28986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API 카테고리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28986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항목 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8986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비중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246120"/>
            <a:ext cx="5486400" cy="329184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273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t>판매 운영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3273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Malgun Gothic"/>
              </a:defRPr>
            </a:pPr>
            <a:r>
              <a:t>SALE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2735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32735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60273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t>결제 정책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360273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7171"/>
                </a:solidFill>
                <a:latin typeface="Malgun Gothic"/>
              </a:defRPr>
            </a:pPr>
            <a:r>
              <a:t>PAYMENT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360273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21%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3904487"/>
            <a:ext cx="5486400" cy="329184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93191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t>출력 설정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4560" y="393191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8BDF8"/>
                </a:solidFill>
                <a:latin typeface="Malgun Gothic"/>
              </a:defRPr>
            </a:pPr>
            <a:r>
              <a:t>PRINT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0" y="3931919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39319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261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t>포인트/회원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4261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426110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261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26%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4562856"/>
            <a:ext cx="5486400" cy="329184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5902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t>바코드/중량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94560" y="45902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BF"/>
                </a:solidFill>
                <a:latin typeface="Malgun Gothic"/>
              </a:defRPr>
            </a:pPr>
            <a:r>
              <a:t>BARCODE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45902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902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9194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t>시스템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4560" y="4919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78BFA"/>
                </a:solidFill>
                <a:latin typeface="Malgun Gothic"/>
              </a:defRPr>
            </a:pPr>
            <a:r>
              <a:t>SYSTEM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49194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49194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9%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Malgun Gothic"/>
              </a:defRPr>
            </a:pPr>
            <a:r>
              <a:t>기기별 설정 (DeviceSetting)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09360" y="2880360"/>
            <a:ext cx="5486400" cy="3200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28986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기기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8986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탭 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28986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항목 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09760" y="28986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주요 탭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09360" y="3246120"/>
            <a:ext cx="548640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400800" y="3328416"/>
            <a:ext cx="82296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POS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337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3337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Malgun Gothic"/>
              </a:defRPr>
            </a:pPr>
            <a:r>
              <a:t>153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3337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터미널(30) VAN(9) 인쇄(76) 판매(11) 정산(27) 영수증(10)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09360" y="3703320"/>
            <a:ext cx="548640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400800" y="3785616"/>
            <a:ext cx="82296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KIOSK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0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Malgun Gothic"/>
              </a:defRPr>
            </a:pPr>
            <a:r>
              <a:t>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0976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터미널(30) VAN(9) 현금(10) 봉투(6) 자동(8) 포인트(11) 인쇄(4) 기타(8)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309360" y="4160520"/>
            <a:ext cx="548640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400800" y="4242816"/>
            <a:ext cx="822960" cy="29260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KITCHEN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4251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6800" y="4251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Malgun Gothic"/>
              </a:defRPr>
            </a:pPr>
            <a:r>
              <a:t>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60" y="4251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터미널(30) 주방메시지(7)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2계층 설정 아키텍처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5715000"/>
            <a:ext cx="1143000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5806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 (SystemSetting)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0807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GET/PUT /api/v1/settings/:category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63093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매장 전체에서 공유하는 설정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9360" y="5806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Malgun Gothic"/>
              </a:defRPr>
            </a:pPr>
            <a:r>
              <a:t>기기별 (DeviceSetting)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9360" y="60807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GET/PUT /api/v1/devices/:id/settings/:category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9360" y="63093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개별 기기에서만 적용되는 설정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판매 운영 (SALE) — 31항목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API: GET/PUT /api/v1/settings/sale  |  키 프리픽스: sale.*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영업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openDay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801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영업 시작일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2801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1790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finishDay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51790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마감일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51790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75564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receiptSeq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17556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전표 시퀀스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7556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99339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receiptNumber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19933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전표번호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9933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23113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startPrice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223113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시재금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23113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4688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beforTran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24688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이전 거래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4688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43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가격/금액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0175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maxPrice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30175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최대 결제금액 (9,999,990)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175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2552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maxCashPrice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32552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최대 현금금액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2552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493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delay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65960" y="34930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지연 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4930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7490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주방/테이블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0233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kitchenCallEnabled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5960" y="40233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주방 호출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0233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26110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tableSelectEnabled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426110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테이블 선택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26110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49884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tableCount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65960" y="44988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테이블 갯수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44988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1005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Malgun Gothic"/>
              </a:defRPr>
            </a:pPr>
            <a:r>
              <a:t>판매 옵션 (토글)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12801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priceEditable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2360" y="12801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가격 수정 허용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12801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1790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productSound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51790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상품 스캔 소리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151790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175564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orderCallEnabled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17556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주문 호출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0" y="17556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199339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totalQtyShow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52360" y="19933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총 수량 표시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19933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223113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grouping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52360" y="223113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상품 그룹핑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75520" y="223113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24688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boryuEnabled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4688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보류 기능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0" y="24688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270662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infoDeskEnabled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27066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안내데스크 모드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0" y="27066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0" y="29443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allFinish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52360" y="29443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전체 마감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29443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0" y="318211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jobFinishCashdraw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52360" y="318211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마감시 현금함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75520" y="31821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43600" y="341985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freeOpt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34198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무료 옵션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341985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3600" y="365760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price11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52360" y="36576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3단 가격 표시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75520" y="365760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43600" y="38953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engEnabled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52360" y="38953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영어 모드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38953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00" y="41330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gridFix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52360" y="413308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그리드 고정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413308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3600" y="4389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4A3B8"/>
                </a:solidFill>
                <a:latin typeface="Malgun Gothic"/>
              </a:defRPr>
            </a:pPr>
            <a:r>
              <a:t>데이터 전용 (UI 미노출)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466344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saleView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52360" y="46634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판매 화면 유형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466344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490118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gridSaleEx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52360" y="49011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그리드 확장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75520" y="490118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43600" y="513892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boryuTranOpt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513892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보류 전송 옵션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75520" y="51389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00" y="53766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infoDeskViewAll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52360" y="53766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안내데스크 전체보기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75520" y="537667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943600" y="561441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saleFinishOpt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52360" y="561441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판매 마감 옵션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75520" y="5614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43600" y="58521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dayFinishMsgOpt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52360" y="58521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일마감 메시지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875520" y="58521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6217920"/>
            <a:ext cx="1143000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640080" y="6291072"/>
            <a:ext cx="73152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17320" y="6291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= toggle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468880" y="6291072"/>
            <a:ext cx="73152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46120" y="6291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= number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297680" y="6291072"/>
            <a:ext cx="731520" cy="29260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74920" y="6291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= text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26480" y="6291072"/>
            <a:ext cx="731520" cy="292608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03720" y="6291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= select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955279" y="6291072"/>
            <a:ext cx="731520" cy="292608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date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732519" y="6291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= date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784080" y="6291072"/>
            <a:ext cx="731520" cy="292608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data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61320" y="6291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=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결제 정책 (PAYMENT) — 21항목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API: GET/PUT /api/v1/settings/payment  |  키 프리픽스: payment.*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Malgun Gothic"/>
              </a:defRPr>
            </a:pPr>
            <a:r>
              <a:t>카드/결제 정책 (9개)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offCardCheck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801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오프라인 카드 결제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2801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1790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offCardKeyUse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51790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오프라인 카드 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51790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75564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handCardEnabled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17556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수기 카드 입력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7556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99339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cardTimerEnabled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19933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카드 타이머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9933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23113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cardWavOpt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223113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카드 결제 소리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23113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4688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cardView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24688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카드 정보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4688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0662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eCardEnabled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27066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전자카드 사용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7066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9443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noCvmBillPrint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29443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비CVM 영수증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9443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18211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minCardPrice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65960" y="318211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카드 최소금액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1821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VAN/현금/상품권 (4개)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749039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cashBackEnabled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3749039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캐시백 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749039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986783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oCashScreen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3986783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현금영수증 화면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986783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22452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giftInputEnabled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65960" y="4224527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상품권 입력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224527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4462271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giftBillEtc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4462271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상품권 기타 처리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4462271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Malgun Gothic"/>
              </a:defRPr>
            </a:pPr>
            <a:r>
              <a:t>환불 (3개)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9834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rePoint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5960" y="49834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환불 포인트 재계산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49834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22122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reTax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65960" y="52212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환불 세금 재계산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52212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reCashBack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65960" y="54589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환불 캐시백 재계산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89120" y="54589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Malgun Gothic"/>
              </a:defRPr>
            </a:pPr>
            <a:r>
              <a:t>수수료 설정 (5개)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12801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commCard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09560" y="12801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카드 수수료 (%)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2720" y="12801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151790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commPoint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09560" y="151790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포인트 수수료 (%)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151790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175564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commCashBack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17556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캐시백 수수료 (%)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17556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199339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commCash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9560" y="19933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 수수료 (%)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2720" y="19933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23113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commCashRate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09560" y="223113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 비율 (%)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32720" y="223113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출력 / 포인트·회원 / 바코드·중량 / 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685800"/>
            <a:ext cx="10972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PRINT 9개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566928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printVat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097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부가세 인쇄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0972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printBarcode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3350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바코드 인쇄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3350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727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bottomPrint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5727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하단 문구 인쇄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5727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81051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pointBillPrint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181051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포인트 영수증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04825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reTranBillPrint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0482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재거래 영수증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04825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28600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memberReceiptPrint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2860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회원 미수 인쇄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28600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5237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printerOffCheck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5237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프린터 오프 체크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5237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7614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slotAdd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76148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용지 슬롯 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276148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299923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cutPosition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29992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절단 위치 (기본/위/아래)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29992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685800"/>
            <a:ext cx="1280160" cy="292608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BARCODE 5개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1005840"/>
            <a:ext cx="548640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10972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barCodeLen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1097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바코드 자동부여 숫자 (95)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10972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33502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scaleLen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13350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중량상품 코드 길이 (4)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13350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15727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scaleStartChar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15727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중량상품 시작문자 (28)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15727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181051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scalePriceCut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181051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중량 가격 절사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18105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204825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scale18YN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20482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18자리 중량 바코드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204825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09360" y="2606040"/>
            <a:ext cx="1280160" cy="292608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SYSTEM 9개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0" y="2926080"/>
            <a:ext cx="548640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30175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errorLog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0175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오류 로그 기록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30175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2240" y="32552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mdbCompact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32552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DB 자동 컴팩트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0" y="32552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3493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masterDownEnabled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34930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마스터 자동 다운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4160" y="34930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0" y="37307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masterDownWeek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01000" y="37307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마스터 다운 주기 (주)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60" y="37307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39684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newItemUpdate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01000" y="39684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신규상품 업데이트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39684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92240" y="420624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scanRealCheck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42062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실시간 스캔 체크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24160" y="420624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0" y="444398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logoMinimize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01000" y="44439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로고 최소화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444398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92240" y="468172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screenHide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01000" y="468172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화면 숨김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24160" y="46817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92240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backupPath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01000" y="49194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백업 경로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24160" y="491947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65760" y="3611880"/>
            <a:ext cx="118872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POINT 27개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3931920"/>
            <a:ext cx="5669280" cy="2743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" y="3977639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ADE80"/>
                </a:solidFill>
                <a:latin typeface="Malgun Gothic"/>
              </a:defRPr>
            </a:pPr>
            <a:r>
              <a:t>포인트 기본 (7개)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420624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salePoint  판매 포인트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407407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weightPoint  중량 상품 포인트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460857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memberAddScreen  회원 추가 화면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" y="480974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gradeMemo / noBillMessage / noBillSound / noBillCusPoint 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5029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ADE80"/>
                </a:solidFill>
                <a:latin typeface="Malgun Gothic"/>
              </a:defRPr>
            </a:pPr>
            <a:r>
              <a:t>고객 UI - 키오스크 (20개)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52578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입력: selfCusTopMsg, selfCusBTMsg1, selfCusBTMsg2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5458968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선택: selfCusSelect, selfReader, selfStartHotKey, selfPriceType, selfCusAddEtc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566013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토글: selfSoundGuide, selfCusNum4, selfNoCustomer, selfCusAddUse,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" y="586130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      selfTouchSoundYN, selfMainPage, selfBTInit, selfOneCancel,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606247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      selfZHotKey, selfCountYN, selfPriceUse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터미널 HW (30항목) + VAN 결제 (9항목)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POS·KIOSK·KITCHEN 공통  |  API: /api/v1/devices/:id/settings/terminal, van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Malgun Gothic"/>
              </a:defRPr>
            </a:pPr>
            <a:r>
              <a:t>터미널 HW (TERMINAL) — 30항목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669280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기본정보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terminalType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57276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터미널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7393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posNo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77393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POS 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7510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adminPosNo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97510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관리자 POS번호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311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주변기기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43230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cashDraw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43230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캐시 드로워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323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63347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touch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263347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터치스크린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6334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83464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28346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듀얼 모니터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8346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03580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dualType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30358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듀얼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프린터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49300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4930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종류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69417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printerPort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36941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포트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89534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printerBps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389534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전송속도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1513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스캐너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35254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scanName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35254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스캐너 종류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55371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scanPort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34640" y="455371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스캐너 포트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75488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handScanPort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4640" y="475488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핸드스캐너 포트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010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MSR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21208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msrPort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521208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MSR 포트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41324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msrBps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541324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MSR 전송속도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6692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CDP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7044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cdpName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587044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CDP 이름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607161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cdpPort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607161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CDP 포트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27278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cdpLine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34640" y="627278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CDP 라인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7395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cdpType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647395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CDP 유형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67512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cdpBps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66751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CDP 속도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87628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cdpCashYN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34640" y="687628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CDP 현금표시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687628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71323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기타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733348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coinName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34640" y="733348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코인기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753465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coinPort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34640" y="753465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코인기 포트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773582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moniter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773582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모니터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793699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sMoniter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34640" y="793699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보조모니터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813816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printerCatUse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4640" y="813816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CAT프린터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81381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833932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catPort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34640" y="833932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CAT포트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" y="854049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catBps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34640" y="854049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CAT속도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874166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cboScalePort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34640" y="874166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저울 포트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" y="894283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supyoPort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34640" y="894283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수표 포트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Malgun Gothic"/>
              </a:defRPr>
            </a:pPr>
            <a:r>
              <a:t>VAN 결제 (VAN) — 9항목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09360" y="1280160"/>
            <a:ext cx="5486400" cy="2743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92240" y="14173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vanSelect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01000" y="14173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VAN사 선택 (NICE/KSNET/KICC/KIS...)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24160" y="14173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0" y="16550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singPadPort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01000" y="16550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서명패드 포트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24160" y="16550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92240" y="18928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logDelete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01000" y="18928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로그 삭제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24160" y="18928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92240" y="21305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vanIp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01000" y="21305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VAN IP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24160" y="21305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92240" y="2368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vanPort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23682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VAN 포트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24160" y="23682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92240" y="260604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danmalNo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01000" y="26060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단말기 번호 (TID)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24160" y="260604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92240" y="284378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snumber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01000" y="28437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시리얼 번호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24160" y="284378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92240" y="308152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singPadBps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01000" y="308152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서명패드 전송속도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424160" y="30815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492240" y="33192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usbYN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01000" y="33192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USB 사용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24160" y="331927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인쇄/출력 (POS_PRINT) — 76항목 (전체 토글)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API: /api/v1/devices/:id/settings/pos_print  |  ASIS: S_Config 79개 항목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96012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1.정산 분류별 매출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6644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2.정산 금액단위별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8132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3.신상품 등록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9621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4.상품정보 1줄 표시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1109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5.환전 비밀번호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25979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6.0원 상품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4086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7.할인상품 적립 안함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5574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8.중량상품 적립 안함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77063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9.전체취소 비활성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8551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10.전표번호 미출력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200399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11.배달기능 비활성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41528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12.보류 영수증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3016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Malgun Gothic"/>
              </a:defRPr>
            </a:pPr>
            <a:r>
              <a:t>13.카드 시 금고 안열기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84505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14.취소 내역 출력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05993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15.외상 매출 불가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27482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16.영수증 바코드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48970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17.영수증 부가세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70458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18.공병합계 표시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919471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19.캐쉬백 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34356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20.매입가 미표시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34924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21.바코드별 상품 묶기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56412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22.반품 비밀번호 미사용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77900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23.회원 구매금액 숨김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99389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24.카드 보관용 상세인쇄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20877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25.수표 응답 인쇄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2366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BBF24"/>
                </a:solidFill>
                <a:latin typeface="Malgun Gothic"/>
              </a:defRPr>
            </a:pPr>
            <a:r>
              <a:t>26.배달 포인트 적립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06240" y="96012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105156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27.할인상품 캐쉬백 안함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126644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28.받은돈 무조건 입력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148132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29.보관용 바코드 안함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169621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30.전자서명 보관전표 안함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191109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31.배달 보관전표 2장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125979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32.재발행 바코드 안함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234086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33.전표번호 숨기기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255574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34.내방배달 보관전표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277063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35.배달미입금 마감불가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98551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36.마감시 외상입금 출력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3200399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37.미수고객 경고창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341528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38.보류시 교대 불가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363016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39.배달미처리 교대 불가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384505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40.상품순번 출력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405993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41.현금전용 반품 불가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427482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42.스캔시 보류 메시지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448970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44.18행 중량바코드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470458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45.보류 영수증 상세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0" y="4919471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46.현금영수증 자진발급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5134356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47.매입&gt;판매 경고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534924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48.판매메세지 숨김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556412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49.중지상품 변경사용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0" y="577900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50.배달 약식 출력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0" y="599389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51.미수금 출력 안함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620877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52.배달미입금 반품 가능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642366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53.배달판매 구분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38160" y="96012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105156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54.가격비교 사용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126644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57.부류/저울 판매가 입력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148132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58.배달 비고란 출력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169621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59.바코드 카드결제 화면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191109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60.잔액 카드결제 화면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2125979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61.단축키 고정판매가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234086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62.상품권 현금영수증 포함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255574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63.상품권 포인트 포함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277063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64.개점/교대 재정정보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298551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65.배달 순번 출력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3200399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66.배달 영수증 관리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341528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67.기사용 영수증 출력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0" y="363016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68.벌크상품 합계 맞춤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384505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69.캐쉬백 QR 인쇄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4059935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70.전화번호 마스킹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27482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71.단축키 마포이름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0" y="448970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72.e-쿠폰 영수증 안함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470458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73.배달 개별상품 보관용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919471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74.현금영수증 고객표시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134356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75.배달순번 회원영수증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34924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76.회원명 마스킹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0" y="5564123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77.카드반품 돈통 안열기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577900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78.카드+카드 결제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599389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79.배달 보관 일반설정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판매설정(11) + 정산/마감(27) + 영수증(10)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685800"/>
            <a:ext cx="1371600" cy="29260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POS_SALE 11개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365760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receiptDiscountDisplay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097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영수증 할인 표시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0972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totalRounding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3350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합계 반올림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3350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727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scaleRounding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5727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저울 반올림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5727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81051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categoryPrintType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181051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분류 출력 유형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04825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deliveryPointRate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0482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배달 포인트 비율 (%)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04825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28600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creditPointRate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2860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외상 포인트 비율 (%)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28600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5237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minReceiptAmount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5237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최소 영수증 금액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5237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7614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minPointAmount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76148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최소 포인트 금액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276148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299923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cardNoSignAmount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29992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카드 무서명 금액 (50,000)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29992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23697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bcPartner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23697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BC 파트너스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32369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4747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creditMemoUse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4747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외상결제 메모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34747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251960"/>
            <a:ext cx="1463040" cy="292608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POS_RECEIPT 10개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572000"/>
            <a:ext cx="36576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17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결제 유형별 영수증 출력 억제 설정 (모두 toggle)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8463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배달시 출력 안함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047488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외상시 출력 안함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24865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포인트 사용 출력 안함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44982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상품권 사용 출력 안함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65099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e쿠폰 사용 출력 안함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8463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QRMS 사용 출력 안함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047488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카드 일시불 출력 안함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24865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카드 할부 출력 안함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544982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현금영수증 출력 안함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565099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OFF 전표반품 출력 안함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0" y="685800"/>
            <a:ext cx="1463040" cy="292608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POS_SETTLE 27개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10515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Malgun Gothic"/>
              </a:defRPr>
            </a:pPr>
            <a:r>
              <a:t>담당자 정산서 (13개)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97680" y="1280160"/>
            <a:ext cx="36576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0" y="137160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공병 매출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159105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과/면세 내역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181051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할인 내역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0560" y="2029967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취소 내역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0560" y="224942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신용카드 내역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80560" y="24688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현금영수증 내역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80560" y="268833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경품지급 내역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0" y="137160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매입사별 카드매출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159105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외상 입금 내역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181051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전배달 입금 내역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9360" y="2029967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기타 할인 내역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09360" y="224942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배달건수 출력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24688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정산서 출력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97680" y="3200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Malgun Gothic"/>
              </a:defRPr>
            </a:pPr>
            <a:r>
              <a:t>마감 정산서 (10개)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97680" y="3429000"/>
            <a:ext cx="365760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80560" y="352044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공병 매출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80560" y="373989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과/면세 내역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80560" y="39593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할인 내역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80560" y="4178808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취소 내역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80560" y="439826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신용카드 내역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9360" y="352044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현금영수증 내역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373989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경품지급 내역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9360" y="395935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매입사별 카드매출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09360" y="4178808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배달건수 출력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9360" y="439826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정산서 출력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49834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Malgun Gothic"/>
              </a:defRPr>
            </a:pPr>
            <a:r>
              <a:t>영수증 메시지 (4개)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97680" y="5212080"/>
            <a:ext cx="365760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80560" y="53035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receiptTopMsg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89320" y="53035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영수증 상단 메시지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53035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480560" y="55412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receiptBottomMsg1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89320" y="55412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영수증 하단 메시지 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12480" y="55412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80560" y="5779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receiptBottomMsg2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89320" y="57790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영수증 하단 메시지 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57790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80560" y="60167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receiptBottomMsg3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9320" y="60167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영수증 하단 메시지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0" y="60167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29600" y="685800"/>
            <a:ext cx="3657600" cy="5715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12480" y="777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algun Gothic"/>
              </a:defRPr>
            </a:pPr>
            <a:r>
              <a:t>POS 기기설정 합계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9536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algun Gothic"/>
              </a:defRPr>
            </a:pPr>
            <a:r>
              <a:t>터미널 HW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15600" y="1280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algun Gothic"/>
              </a:defRPr>
            </a:pPr>
            <a:r>
              <a:t>30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03920" y="1600200"/>
            <a:ext cx="3200400" cy="1828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59536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algun Gothic"/>
              </a:defRPr>
            </a:pPr>
            <a:r>
              <a:t>VAN 결제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1560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503920" y="2103120"/>
            <a:ext cx="3200400" cy="1828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9536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algun Gothic"/>
              </a:defRPr>
            </a:pPr>
            <a:r>
              <a:t>인쇄/출력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15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Malgun Gothic"/>
              </a:defRPr>
            </a:pPr>
            <a:r>
              <a:t>76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503920" y="2606040"/>
            <a:ext cx="3200400" cy="1828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59536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algun Gothic"/>
              </a:defRPr>
            </a:pPr>
            <a:r>
              <a:t>판매설정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15600" y="2788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503920" y="3108960"/>
            <a:ext cx="3200400" cy="1828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595360" y="3291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algun Gothic"/>
              </a:defRPr>
            </a:pPr>
            <a:r>
              <a:t>정산/마감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15600" y="3291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Malgun Gothic"/>
              </a:defRPr>
            </a:pPr>
            <a:r>
              <a:t>27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503920" y="3611880"/>
            <a:ext cx="3200400" cy="1828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595360" y="3794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Malgun Gothic"/>
              </a:defRPr>
            </a:pPr>
            <a:r>
              <a:t>영수증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15600" y="3794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472B6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503920" y="4114800"/>
            <a:ext cx="3200400" cy="1828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595360" y="4389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합계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241280" y="4297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Malgun Gothic"/>
              </a:defRPr>
            </a:pPr>
            <a:r>
              <a:t>153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5360" y="4754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6개 탭 (POS 전용)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73152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키오스크 기기설정 — 6개 전용 탭 (86항목)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API: /api/v1/devices/:id/settings/{self_cash|self_bag|self_auto|self_point|self_print|self_etc}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960120"/>
            <a:ext cx="1371600" cy="292608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SELF_CASH 10개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3657600" cy="2560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3716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 결제 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093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selfCashPort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093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현금기 포트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093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470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selfCashSleep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184708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현금기 대기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84708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08483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selfCashPhonNum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0848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전화번호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0848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32257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selfCashGubun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232257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현금 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322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5603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selfNoHyunYoung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25603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실결제금액 숨김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5603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980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selfOneHPUse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27980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1만원권 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27980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0358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self50HPUse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30358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5만원권 사용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30358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2735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self10000Use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32735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만원권 사용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32735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511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selfNoCardUse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35112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카드 결제 비활성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5112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06240" y="960120"/>
            <a:ext cx="1280160" cy="292608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SELF_BAG 6개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06240" y="1280160"/>
            <a:ext cx="365760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137160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selfBagPort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13716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봉투기 포트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37160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16093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selfStartBag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16093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시작시 봉투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6093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18470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selfMBagSell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97880" y="184708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복수 봉투 판매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184708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208483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selfLastBag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97880" y="20848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마지막 봉투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0848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89120" y="232257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selfScalePort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232257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저울 포트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322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25603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selfScaleLimitG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7880" y="25603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저울 한계 중량 (g)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5603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8BDF8"/>
                </a:solidFill>
                <a:latin typeface="Malgun Gothic"/>
              </a:defRPr>
            </a:pPr>
            <a:r>
              <a:t>number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46720" y="960120"/>
            <a:ext cx="1371600" cy="292608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SELF_AUTO 8개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46720" y="1280160"/>
            <a:ext cx="3749039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0" y="137160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autoOpenYN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38360" y="13716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 개점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161520" y="137160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16093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autoFinishYN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16093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 마감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161520" y="16093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18470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autoDay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360" y="184708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 운영 요일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61520" y="184708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208483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autoAP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38360" y="20848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AM/PM 구분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161520" y="20848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232257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autoHH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232257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시간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161520" y="2322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25603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autoMM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38360" y="25603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161520" y="25603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27980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38360" y="27980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 ID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161520" y="27980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0358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autoPass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38360" y="30358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 비밀번호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61520" y="30358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5760" y="3977639"/>
            <a:ext cx="1371600" cy="29260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SELF_POINT 11개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4297680"/>
            <a:ext cx="365760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3891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selfNoAutoPoint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57400" y="43891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자동포인트 비활성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80560" y="43891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selfPointZero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6268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포인트 초기화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80560" y="46268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48646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selfPointHidden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48646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포인트 숨김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80560" y="48646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" y="51023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selfPointSMSUse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57400" y="51023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포인트 SMS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80560" y="51023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8640" y="53400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selfUserCall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57400" y="53400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직원 호출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80560" y="53400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8640" y="557784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selfSMSAdmin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57400" y="55778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관리자 SMS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57784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581558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selfKakao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57400" y="58155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카카오 알림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80560" y="581558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" y="605332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selfZero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57400" y="605332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제로 설정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60533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8640" y="62910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selfCusAlarmUse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57400" y="62910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고객 알람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80560" y="629107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652881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selfCusAlarmTime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57400" y="652881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고객 알람 시간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480560" y="65288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8640" y="67665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selfSNSGubun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57400" y="67665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SNS 구분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80560" y="67665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06240" y="3063240"/>
            <a:ext cx="128016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SELF_PRINT 4개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206240" y="3383280"/>
            <a:ext cx="365760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389120" y="34747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selfAutoPrint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897880" y="34747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 출력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21040" y="34747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389120" y="37124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selfStoPrint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897880" y="37124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출력 중지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21040" y="37124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389120" y="39502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selfPrintAddress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897880" y="39502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주소 출력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321040" y="39502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389120" y="41879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selfPrintPhon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97880" y="41879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전화번호 출력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321040" y="41879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206240" y="4663440"/>
            <a:ext cx="1188720" cy="292608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SELF_ETC 8개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206240" y="4983480"/>
            <a:ext cx="3657600" cy="1691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389120" y="50749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selfJPYN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897880" y="50749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일본 모드 (동전교환)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321040" y="507492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389120" y="53126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selfBagJPPort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897880" y="53126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일본 봉투기 포트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321040" y="53126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389120" y="55504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selfNoAutoGoods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897880" y="55504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자동상품 비활성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21040" y="555040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9120" y="57881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selfAppCard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97880" y="57881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앱카드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21040" y="578815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89120" y="60258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selfApple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897880" y="60258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애플페이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321040" y="60258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120" y="626364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selfCamUse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97880" y="62636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카메라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21040" y="626364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89120" y="650138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selfICSiren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897880" y="65013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IC 사이렌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21040" y="650138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toggle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046720" y="3566160"/>
            <a:ext cx="3749039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229600" y="3657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Malgun Gothic"/>
              </a:defRPr>
            </a:pPr>
            <a:r>
              <a:t>KIOSK 기기설정 합계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2480" y="40233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터미널 HW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515600" y="402336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algun Gothic"/>
              </a:defRPr>
            </a:pPr>
            <a:r>
              <a:t>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2480" y="4315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VAN 결제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515600" y="43159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12480" y="460857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현금 결제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515600" y="4608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412480" y="49011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봉투/저울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515600" y="490118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12480" y="51937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자동 운영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515600" y="51937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412480" y="54864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포인트/알림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515600" y="54864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412480" y="57790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인쇄/출력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515600" y="5779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12480" y="607161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기타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0515600" y="607161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472B6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8229600" y="6355080"/>
            <a:ext cx="3383280" cy="1828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4124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합계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332720" y="6355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Malgun Gothic"/>
              </a:defRPr>
            </a:pPr>
            <a:r>
              <a:t>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KITCHEN 설정 + 전체 통계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1188720" cy="29260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KITCHEN 7개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457200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kitchenPrint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3258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주방 프린터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3258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6362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kitchenPrintPort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6362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주방 프린터 포트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5636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013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kitchenPrintBps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8013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주방 프린터 속도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80136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03911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kitchenFontsize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03911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폰트 크기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391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select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27685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kitchenMsg1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2768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주방 메시지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27685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1460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kitchenMsg2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25146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주방 메시지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51460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7523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kitchenMsg4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27523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주방 메시지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7523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743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KITCHEN = 터미널 HW(30) + 주방 메시지(7) = 37항목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algun Gothic"/>
              </a:defRPr>
            </a:pPr>
            <a:r>
              <a:t>전체 항목 유형별 통계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657600"/>
            <a:ext cx="457200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5760" y="3657600"/>
            <a:ext cx="4572000" cy="365760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703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분류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703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토글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3703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입력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703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703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합계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069080"/>
            <a:ext cx="4572000" cy="365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14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8BDF8"/>
                </a:solidFill>
                <a:latin typeface="Malgun Gothic"/>
              </a:defRPr>
            </a:pPr>
            <a:r>
              <a:t>공통 환경설정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114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algun Gothic"/>
              </a:defRPr>
            </a:pPr>
            <a:r>
              <a:t>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114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BBF24"/>
                </a:solidFill>
                <a:latin typeface="Malgun Gothic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4114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4114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102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Malgun Gothic"/>
              </a:defRPr>
            </a:pPr>
            <a:r>
              <a:t>POS 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algun Gothic"/>
              </a:defRPr>
            </a:pPr>
            <a:r>
              <a:t>111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BBF24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472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4480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133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" y="4800600"/>
            <a:ext cx="4572000" cy="365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846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KIOSK 전용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94560" y="4846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algun Gothic"/>
              </a:defRPr>
            </a:pPr>
            <a:r>
              <a:t>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4846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BBF24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4846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Malgun Gothic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4846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212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algun Gothic"/>
              </a:defRPr>
            </a:pPr>
            <a:r>
              <a:t>공통 터미널+VAN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94560" y="5212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34640" y="5212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BBF24"/>
                </a:solidFill>
                <a:latin typeface="Malgun Gothic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4720" y="5212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5212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39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532120"/>
            <a:ext cx="4572000" cy="365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577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7171"/>
                </a:solidFill>
                <a:latin typeface="Malgun Gothic"/>
              </a:defRPr>
            </a:pPr>
            <a:r>
              <a:t>KITCHEN 전용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9456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3464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BBF24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7472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0" y="55778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5943600"/>
            <a:ext cx="4572000" cy="365760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전체 합계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94560" y="5989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34640" y="5989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74720" y="5989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41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319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0" y="914400"/>
            <a:ext cx="201168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0" y="1051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DD4BF"/>
                </a:solidFill>
                <a:latin typeface="Malgun Gothic"/>
              </a:defRPr>
            </a:pPr>
            <a:r>
              <a:t>319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7784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전체 설정 항목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72400" y="914400"/>
            <a:ext cx="201168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63840" y="1051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Malgun Gothic"/>
              </a:defRPr>
            </a:pPr>
            <a:r>
              <a:t>102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공통 환경설정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058400" y="914400"/>
            <a:ext cx="201168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49840" y="1051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ADE80"/>
                </a:solidFill>
                <a:latin typeface="Malgun Gothic"/>
              </a:defRPr>
            </a:pPr>
            <a:r>
              <a:t>217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기기별 설정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0" y="2560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API 엔드포인트 요약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0" y="2926080"/>
            <a:ext cx="640080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577840" y="3154680"/>
            <a:ext cx="54864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3154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algun Gothic"/>
              </a:defRPr>
            </a:pPr>
            <a:r>
              <a:t>GET /api/v1/settings/:category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77840" y="3383280"/>
            <a:ext cx="5943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SALE, PAYMENT, PRINT, POINT, BARCODE, SYSTEM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577840" y="3566160"/>
            <a:ext cx="54864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3566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algun Gothic"/>
              </a:defRPr>
            </a:pPr>
            <a:r>
              <a:t>PUT /api/v1/settings/:category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77840" y="3794760"/>
            <a:ext cx="5943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동일 카테고리 (key-value 일괄 저장)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577840" y="3977640"/>
            <a:ext cx="54864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기기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3977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algun Gothic"/>
              </a:defRPr>
            </a:pPr>
            <a:r>
              <a:t>GET /api/v1/devices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77840" y="4206240"/>
            <a:ext cx="5943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기기 목록 조회 (POS/KIOSK/KITCHEN)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577840" y="4389120"/>
            <a:ext cx="54864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기기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0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algun Gothic"/>
              </a:defRPr>
            </a:pPr>
            <a:r>
              <a:t>POST /api/v1/devices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77840" y="4617720"/>
            <a:ext cx="5943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신규 기기 등록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577840" y="4800600"/>
            <a:ext cx="54864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기기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17920" y="4800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algun Gothic"/>
              </a:defRPr>
            </a:pPr>
            <a:r>
              <a:t>GET /api/v1/devices/:id/settings/:cat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77840" y="5029200"/>
            <a:ext cx="5943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TERMINAL, VAN, POS_PRINT, POS_SALE...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577840" y="5212080"/>
            <a:ext cx="54864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기기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17920" y="5212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algun Gothic"/>
              </a:defRPr>
            </a:pPr>
            <a:r>
              <a:t>PUT /api/v1/devices/:id/settings/:cat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577840" y="5440680"/>
            <a:ext cx="5943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SELF_CASH, SELF_BAG, SELF_AUTO...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77840" y="56692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8BDF8"/>
                </a:solidFill>
                <a:latin typeface="Malgun Gothic"/>
              </a:defRPr>
            </a:pPr>
            <a:r>
              <a:t>DB: SystemSetting (key + value + category)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77840" y="59436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DB: DeviceSetting (deviceId + key + value, cascade delete)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77840" y="62179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Malgun Gothic"/>
              </a:defRPr>
            </a:pPr>
            <a:r>
              <a:t>현재 기기 식별: POSON_DEVICE_ID 환경변수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