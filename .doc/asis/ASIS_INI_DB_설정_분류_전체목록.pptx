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POSON POS - ASIS VB6 Legacy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INI vs DB 설정 분류 전체 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BBF24"/>
                </a:solidFill>
                <a:latin typeface="Malgun Gothic"/>
              </a:defRPr>
            </a:pPr>
            <a:r>
              <a:t>pos_config.ini  |  config.ini  |  DB: POS_Set[101]  |  DB: Office_User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4114800"/>
            <a:ext cx="21031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251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Malgun Gothic"/>
              </a:defRPr>
            </a:pPr>
            <a:r>
              <a:t>~446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846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INI (POS 런타임)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4114800"/>
            <a:ext cx="21031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4251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78BFA"/>
                </a:solidFill>
                <a:latin typeface="Malgun Gothic"/>
              </a:defRPr>
            </a:pPr>
            <a:r>
              <a:t>~350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4846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INI (관리프로그램)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114800"/>
            <a:ext cx="21031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ADE80"/>
                </a:solidFill>
                <a:latin typeface="Malgun Gothic"/>
              </a:defRPr>
            </a:pPr>
            <a:r>
              <a:t>~78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DB POS_Set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4114800"/>
            <a:ext cx="21031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4251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BBF24"/>
                </a:solidFill>
                <a:latin typeface="Malgun Gothic"/>
              </a:defRPr>
            </a:pPr>
            <a:r>
              <a:t>~24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846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DB Office_User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POS 런타임 합계: 548항목  |  전체(관리프로그램 포함): ~900항목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2026-02-19  |  VB6 ASIS 설정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ASIS 설정 저장소 4대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VB6 Type: C_Config(300+), Terminal(50+), S_Config(130+), Shop(40+), VAN(20+)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43000"/>
            <a:ext cx="56692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91440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INI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pos_config.ini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POS 런타임 설정 / 로컬파일 / 75섹션, 516+키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[Application]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7451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애플리케이션 정보 (5키)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29967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[Sale]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7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 운영 설정 (10키)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85415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[Receipt]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185415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영수증 정보 (9키)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40863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[DataBase]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340863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DB 연결 정보 (6키)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96311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[Terminal]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496311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터미널 HW 설정 (42키)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5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[Other]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65175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POS 업무 설정 (75키)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07207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[Card]+VAN 13개사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807207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VAN 결제 설정 (65+키)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62655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[Self]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962655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셀프키오스크 전용 (73키)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18103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[FaceCam/JaPan/Selfimg/Self21]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118103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기타 기기 전용 (20키)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73551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[Dual_Msg/POSON2/Color/Font]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273551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UI/색상/폰트 (32키)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42899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[Grid_*] 20+섹션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42899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그리드 컬럼폭 VB6전용 (~100키)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143000"/>
            <a:ext cx="56692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1234440"/>
            <a:ext cx="91440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INI 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config.ini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600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PosManager 전용 / 관리프로그램 / 85+섹션, 1317줄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87451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[Application]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187451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관리프로그램 기본설정 (76키)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029967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[Server]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029967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DB 서버 + 원격서버 (15키)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185415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[Version_Info]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185415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버전 정보 (7키)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340863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[BarCodePrint]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340863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바코드 프린터 공통 (43키)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496311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[TTP/SRP/LK-B/LK-P/G5]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2496311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프린터 모델별 좌표 (200+키)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65175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[HT_Trans]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265175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데이터 전송 (7키)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807207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[WEBSMS_Sett]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2807207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웹 SMS 설정 (8키)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2962655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[Customer]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2962655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고객표시기 CDP 포트 (4키)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3118103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[Length]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3118103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바코드/저울 길이 (2키)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273551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[SuSu]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3273551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수수료율 설정 (5키)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3428999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78BFA"/>
                </a:solidFill>
                <a:latin typeface="Malgun Gothic"/>
              </a:defRPr>
            </a:pPr>
            <a:r>
              <a:t>[기타 10+섹션]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3428999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화면별 옵션 (50+키)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4320" y="3840480"/>
            <a:ext cx="5669280" cy="2651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7200" y="3931920"/>
            <a:ext cx="109728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SERVER DB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4592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POS_Set[101] - S_Config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297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서버 동기화 업무규칙 / 쉼표구분 78+값 / S_Config_Call()로 로딩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617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출력/인쇄 관련 (12)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03120" y="46177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[0]Group_Print, [3]PrintLine, [15]Print_Barcode...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4892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판매/업무 규칙 (22)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3120" y="4892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[4]Cash_Pass, [8]CancelAll, [14]No_Credit...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포인트/회원 관련 (14)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03120" y="5166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[6]Sale_Point, [25]Tran_Point, [18]CashBack...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544067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럭키유저/이벤트 (11)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03120" y="544067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[34~44] LU_Chk, LU_Per, LU_Point...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57150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바코드/저울 (4)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03120" y="57150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[31]Resend_Barcode, [56]Scale_18_YN...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5989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금액/세금/메시지 (15)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03120" y="5989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[51]Change_Type, [62]Tax_Auto, [64]SaleMsg_YN...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17920" y="3840480"/>
            <a:ext cx="5669280" cy="2651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400800" y="3931920"/>
            <a:ext cx="1097280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SERVER DB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8952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Office_User - Shop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4297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매장 기본 정보 / 서버DB 40+컬럼 / S_Config_Call()로 로딩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0" y="4617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매장 기본정보 (10)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46720" y="46177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OFFICE_NAME, office_num, owner_name, address...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0" y="4892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SMS/푸시 설정 (6)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46720" y="4892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eBill_sms_yn, eBill_push_yn, Push_title/msg...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확장바코드 (1)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46720" y="5166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strBarcode_YN (XBarcode)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0" y="544067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셀프 핫키 (5)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46720" y="544067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selfPos_Hotkey1~4, SMS_GUBUN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0" y="57150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주방 메시지 (5)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57150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kitchenMsg1~5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로딩 순서: INI_Load() -&gt; S_Config_Call() (DB 연결 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pos_config.ini - 공통 설정 (30키)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20040"/>
            <a:ext cx="118872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INI / LOCAL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566928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Malgun Gothic"/>
              </a:defRPr>
            </a:pPr>
            <a:r>
              <a:t>[Application] 애플리케이션 정보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39" y="1115568"/>
            <a:ext cx="822960" cy="29260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5keys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Pro_Name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463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프로그램명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630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POSON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642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Pro_Buttom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6642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하단 텍스트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642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CopyRight...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653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Font_Add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186537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폰트 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86537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0665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SALE_POINTUSE_UPDATE_YN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066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포인트 업데이트 플래그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066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2677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Backup_Month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2677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백업 주기(월)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2677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2743200"/>
            <a:ext cx="566928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Malgun Gothic"/>
              </a:defRPr>
            </a:pPr>
            <a:r>
              <a:t>[Sale] 판매 운영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39" y="2852928"/>
            <a:ext cx="82296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10keys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OpenDay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2004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영업 시작일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2004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날짜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4015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S_JeonPyo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전표 시퀀스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34015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60273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St_Jeonpyo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360273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전표번호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60273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타임스탬프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039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Befor_Tran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3803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이전거래 합계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380390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050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Befor_Tran_Dec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이전거래 차감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400507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2062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Befor_Tran_Card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42062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이전거래 카드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4206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4074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DataDown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4407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마스터 데이터 다운로드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44074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6085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Finish_Day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460857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마감일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460857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날짜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8097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Start_Price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68880" y="48097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시재금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48097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0109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INOUT_Chk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68880" y="50109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입출 체크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80" y="50109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1005840"/>
            <a:ext cx="5669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[Receipt] 영수증 정보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149839" y="1115568"/>
            <a:ext cx="822960" cy="29260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9keys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14630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ShopName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1463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매장명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14630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16642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ShopNumber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16642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사업자번호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16642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18653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Address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186537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주소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186537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20665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Owner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12480" y="2066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대표자명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55680" y="20665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22677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Tel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12480" y="22677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전화번호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55680" y="22677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24688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ShopName_Color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0" y="246888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매장명 색상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55680" y="24688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8421440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0" y="26700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Top5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26700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상단 여백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155680" y="26700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(빈값)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28712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Buttom5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12480" y="287121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하단 여백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155680" y="28712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(빈값)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0" y="30723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NewShopName_Color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12480" y="307238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새매장명 색상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155680" y="307238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16777215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17920" y="3520440"/>
            <a:ext cx="5669280" cy="1691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0" y="3611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Malgun Gothic"/>
              </a:defRPr>
            </a:pPr>
            <a:r>
              <a:t>[DataBase] DB 연결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149839" y="3630168"/>
            <a:ext cx="822960" cy="292608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6keys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0" y="397763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DBType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0" y="3977639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DB 유형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155680" y="3977639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00800" y="4178807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IP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12480" y="4178807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DB 서버 IP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155680" y="4178807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192.168.10.48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0" y="4379975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UserName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12480" y="4379975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DB 사용자 (암호화)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155680" y="4379975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00800" y="4581143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Pass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412480" y="4581143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DB 비밀번호 (암호화)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155680" y="4581143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0800" y="4782311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Port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4782311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DB 포트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155680" y="4782311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1433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0800" y="498347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D3EE"/>
                </a:solidFill>
                <a:latin typeface="Malgun Gothic"/>
              </a:defRPr>
            </a:pPr>
            <a:r>
              <a:t>DB_NAME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12480" y="4983479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DB 이름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155680" y="4983479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TIPS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참고: Sale 섹션은 날짜/시퀀스 등 기기별 운영 데이터  |  Receipt/Application은 매장 공통 설정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pos_config.ini - [Terminal] 터미널 HW (42키)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320040"/>
            <a:ext cx="1371600" cy="29260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모두 기기별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3749039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Malgun Gothic"/>
              </a:defRPr>
            </a:pPr>
            <a:r>
              <a:t>기본 / 프린터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TerminalType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417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기기 종류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PosNo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00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POS 번호 (2자리)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AdminPosNo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7830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관리자 POS번호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Cashdraw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965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캐시드로워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48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Touch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148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터치스크린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3317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Moniter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331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메인 모니터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14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S_Moniter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514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서브 모니터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6974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6974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프린터 종류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803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Printer_Port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8803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프린터 포트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0632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Printer_Serial_Bps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0632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프린터 전송속도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46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Printer_CAT_USE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2461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CAT 프린터 사용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4290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CAT_Port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3429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CAT 포트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611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CAT_BPS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6118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CAT 전송속도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7947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Printer_Bps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3794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프린터 속도 (중복)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1005840"/>
            <a:ext cx="3749039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Malgun Gothic"/>
              </a:defRPr>
            </a:pPr>
            <a:r>
              <a:t>스캐너/카드리더/CDP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14173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Scan_Name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1417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스캐너 종류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1600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Scan_Port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1600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스캐너 포트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17830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HandScan_Port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17830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핸드스캐너 포트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1965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MSR_Port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965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카드리더 포트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2148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MSR_BPS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2148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카드리더 전송속도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23317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CDPName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331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고객표시기명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2514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CDP_Port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2514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고객표시기 포트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26974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CDPLine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26974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고객표시기 라인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28803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CDPType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28803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고객표시기 종류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30632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CDP_BPS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30632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고객표시기 전송속도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3246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CDP_CASH_YN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32461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CDP 현금표시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34290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Coin_Name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0" y="3429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동전교환기 종류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0" y="3611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Coin_Port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36118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동전교환기 포트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37947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CBO_ScalePort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5040" y="3794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저울 포트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38160" y="1005840"/>
            <a:ext cx="3749039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2104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Malgun Gothic"/>
              </a:defRPr>
            </a:pPr>
            <a:r>
              <a:t>주방프린터/벨/듀얼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14173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KitchenPrint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66960" y="1417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주방프린터 종류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1600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KitchenPrintPort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66960" y="1600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주방프린터 포트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17830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KitchenPrintBps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66960" y="17830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주방프린터 전송속도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21040" y="1965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Kitchen_fontsize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66960" y="1965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주방 폰트크기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2148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SuPyo_Port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66960" y="2148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수표 포트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21040" y="23317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Dual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66960" y="2331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듀얼 모니터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2514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Dual_Type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66960" y="2514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듀얼 유형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21040" y="26974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Bell_YN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66960" y="26974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벨 사용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21040" y="28803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Bell_Type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66960" y="28803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벨 종류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21040" y="30632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Bell_ComPort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66960" y="30632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벨 COM포트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21040" y="3246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Bell_Name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966960" y="32461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벨 이름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21040" y="34290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Bell_fID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66960" y="3429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벨 시설ID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21040" y="3611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Bell_fID_YN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966960" y="36118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벨 시설ID 사용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21040" y="37947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Bell_LEN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966960" y="3794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벨 번호 길이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전체 42키 모두 POS 기기별 하드웨어 설정 - TOBE DeviceSetting(TERMINAL 카테고리)로 이전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pos_config.ini - [Other] POS 업무 설정 (75키)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137160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공통 + 기기별 혼재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Malgun Gothic"/>
              </a:defRPr>
            </a:pPr>
            <a:r>
              <a:t>판매/가격 설정 (25키)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Price_Edit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28016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가격 수정 허용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538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MaxPrice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538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최대 결제금액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276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HyeonGeumPrice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6276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최대 현금금액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013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MIN_Card_Price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8013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최소 카드결제 금액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7510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SaleView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97510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판매화면 타입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1488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InPriView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1488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매입가 표시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3225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Grouping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3225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상품 그룹핑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49631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Grid_Fix_YN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49631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그리드 고정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6700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Grid_SaleEx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26700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 그리드 확장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84378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price_11_yn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84378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3단 가격 표시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017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ENG_YN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3017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영어 모드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191255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Product_Sound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191255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상품 스캔 소리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3649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Product_CashOpen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3649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상품등록시 캐시드로워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5387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SCANCOP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35387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스캔 복사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7124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SCAN_REAL_Chk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37124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바코드 실시간 체크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8862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InfoDesk_YN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38862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안내데스크 모드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0599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InfoDesk_ViewAll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40599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안내데스크 전체보기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2336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Total_Qty_YN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42336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총 수량 표시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4074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Logo_Min_YN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44074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로고 최소화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5811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Free_Opt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45811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무료 옵션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7548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Grade_Memo_YN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4560" y="47548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등급 메모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92861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Order_Call_YN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492861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주문 호출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102351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f_Boryu_YN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94560" y="5102351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보류 사용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2760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Boryu_Tran_Opt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94560" y="52760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보류 거래 옵션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44982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Delay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94560" y="544982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지연 설정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06240" y="91440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카드/결제/마감 (25키)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1280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OFF_CARD_Chk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1280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오프라인 카드 사용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0" y="14538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OFF_CARD_KEY_USE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14538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오프라인 카드키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16276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HAND_CARD_YN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16276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수동 카드입력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89120" y="18013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eCard_YN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18013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전자카드 사용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0" y="19751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CARD_Timer_YN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19751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카드 타이머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9120" y="2148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Card_Wav_Opt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2148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카드 결제 소리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89120" y="23225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Card_View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23225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카드 표시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9120" y="24963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GIFT_BILL_ETC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24963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상품권 출력 기타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89120" y="26700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Gift_Input_YN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26700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상품권 입력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89120" y="284378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SelfPos_YN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17920" y="28437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셀프 모드 ON/OFF (!)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89120" y="3017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MisuPrint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30175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미수 출력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89120" y="3191255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Re_Point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17920" y="319125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환불시 포인트 재계산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89120" y="33649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Re_Tax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17920" y="33649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환불시 세금 재계산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89120" y="35387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Re_CashBack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17920" y="35387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환불시 캐시백 재계산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89120" y="3712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MEMBER_ADD_SCREEN_YN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17920" y="37124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회원 추가 화면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89120" y="3886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noCVM_Bill_Print_YN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17920" y="3886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비CVM 영수증 출력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89120" y="40599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HOTKEY_ENTER_USE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17920" y="40599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핫키 엔터 사용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9120" y="42336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Touch_HotKey_Opt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42336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터치 핫키 옵션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89120" y="44074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Day_F_Msg_Opt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17920" y="44074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일마감 메시지 옵션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89120" y="45811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Job_Finish_Cashdraw_YN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17920" y="45811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마감시 캐시드로워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89120" y="47548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All_Finish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17920" y="4754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전체 마감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89120" y="49286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Sale_Finish_Opt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0" y="49286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 마감 옵션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89120" y="510235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Process_Method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17920" y="5102351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화면잠금 사용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389120" y="52760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MDB_Compact_YN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17920" y="52760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DB 자동 컴팩트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389120" y="544982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Err_Write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17920" y="54498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에러 로깅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138160" y="91440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32104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Malgun Gothic"/>
              </a:defRPr>
            </a:pPr>
            <a:r>
              <a:t>출력/다운로드/기타 (25키)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21040" y="1280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Print_VAT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149840" y="1280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부가세 출력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321040" y="14538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Print_Barcode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149840" y="14538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바코드 출력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21040" y="16276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Bott_Print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149840" y="16276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하단 합계 출력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321040" y="18013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Slot_Add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149840" y="18013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용지 슬롯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21040" y="19751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Cut_Position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149840" y="19751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절단 위치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1040" y="2148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Printer_OFF_Chk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149840" y="2148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프린터 오프라인 체크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21040" y="23225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Point_Bill_Print_YN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149840" y="23225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포인트 영수증 출력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21040" y="24963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reTranBill_Print_1_YN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149840" y="24963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재거래 영수증 출력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321040" y="26700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no_Bill_fMessage_YN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49840" y="26700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무영수증 메시지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321040" y="284378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no_Bill_fSound_YN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149840" y="28437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무영수증 소리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3017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no_Bill_CusPoint_YN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149840" y="30175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무영수증 포인트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321040" y="3191255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wSclae_Danwi_Print_YN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149840" y="319125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저울 단위 출력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321040" y="33649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wSclae_Danwi_View_YN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149840" y="33649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저울 단위 표시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321040" y="35387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mDown_YN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149840" y="35387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마스터 다운로드 사용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321040" y="3712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mDown_Week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149840" y="37124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다운로드 주기(주)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321040" y="3886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New_Item_Update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149840" y="3886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신규상품 업데이트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321040" y="40599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DataDown_Goods_NO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149840" y="40599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상품 데이터 다운로드 번호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321040" y="42336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Shop_Chk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149840" y="42336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매장 체크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321040" y="44074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Hotkey_Chk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149840" y="44074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핫키 체크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321040" y="45811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All_Data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149840" y="45811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전체 데이터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321040" y="47548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All_Finish_BAK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149840" y="4754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전체마감 백업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321040" y="49286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All_Finish_BAK_Def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149840" y="49286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전체마감 백업 기본값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321040" y="510235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PosMenu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149840" y="5102351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POS 메뉴 사용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2760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Dual_Pos_TEST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149840" y="52760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듀얼POS 테스트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321040" y="544982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Pro_Comp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149840" y="54498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프로그램 압축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pos_config.ini - VAN 결제 설정 (13개 VAN사, 65+키)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320040"/>
            <a:ext cx="2011680" cy="292608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IP:공통 / 단말번호:기기별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50292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Malgun Gothic"/>
              </a:defRPr>
            </a:pPr>
            <a:r>
              <a:t>[Card] VAN 공통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VAN_Select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173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VAN사 선택 (1~13)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417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D4BF"/>
                </a:solidFill>
                <a:latin typeface="Malgun Gothic"/>
              </a:defRPr>
            </a:pPr>
            <a:r>
              <a:t>기기별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SingPad_Port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6002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서명패드 포트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600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D4BF"/>
                </a:solidFill>
                <a:latin typeface="Malgun Gothic"/>
              </a:defRPr>
            </a:pPr>
            <a:r>
              <a:t>기기별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830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CashBack_YN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7830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캐시백 사용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783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OCash_Screen_YN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19659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온라인현금 화면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9659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14884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Log_Delete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1488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로그 삭제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148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2606040"/>
            <a:ext cx="1161288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69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Malgun Gothic"/>
              </a:defRPr>
            </a:pPr>
            <a:r>
              <a:t>VAN사별 13개 섹션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01752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VAN사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01752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INI 섹션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017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IP (공통)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0175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Port (공통)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017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DANMALNO (기기별)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0175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Snumber (기기별)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0175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기타 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255264"/>
            <a:ext cx="11430000" cy="228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2735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KSNET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2735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[KSNET]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273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210.181.28.137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2735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9562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273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2735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2735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SingPad_BPS, USB_YN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021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35021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[KIS]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35021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35021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35021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O(암호화)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5021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5021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Pos_Number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3712464"/>
            <a:ext cx="11430000" cy="228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7307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KMPS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37307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[KMPS]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0" y="3730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37307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3730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37307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3730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Port_chk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39593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SMARTRO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0" y="39593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[SMARTRO]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0" y="3959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211.192.50.244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39593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5801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3959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39593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39593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760" y="4169664"/>
            <a:ext cx="11430000" cy="228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1879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StarVAN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87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[StarVAN]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86000" y="41879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0" y="41879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0" y="41879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41879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41879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44165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NICE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80160" y="44165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[NICE]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6000" y="4416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211.33.136.2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0" y="44165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7709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0" y="4416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0" y="44165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44165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Dll_Chk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65760" y="4626864"/>
            <a:ext cx="11430000" cy="228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46451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JTNet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80160" y="46451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[JTNet]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86000" y="46451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211.48.96.28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0" y="46451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11025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0" y="46451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0" y="46451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0" y="46451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48737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KICC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80160" y="48737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[KICC]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86000" y="4873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203.233.72.21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4800" y="48737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15700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0" y="4873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0" y="48737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29600" y="4873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SingPad_BPS, SingCall_Type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65760" y="5084064"/>
            <a:ext cx="11430000" cy="228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57200" y="51023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KCB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80160" y="51023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[KCB]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86000" y="5102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0" y="51023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29200" y="5102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58000" y="51023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29600" y="51023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Use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53309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KOVAN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80160" y="53309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[KOVAN]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286000" y="53309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203.231.12.152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114800" y="53309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10902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0" y="53309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O(암호화)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0" y="53309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9600" y="53309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Dll_Chk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65760" y="5541264"/>
            <a:ext cx="11430000" cy="228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57200" y="55595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KOCES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80160" y="55595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[KOCES]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286000" y="5559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211.192.167.38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114800" y="55595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10015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29200" y="5559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58000" y="55595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0" y="55595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SingPad_Name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7200" y="57881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KCP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80160" y="57881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[KCP]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286000" y="57881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203.238.36.152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114800" y="57881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9976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29200" y="57881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0" y="57881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229600" y="57881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Dll_Chk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65760" y="5998464"/>
            <a:ext cx="11430000" cy="2286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57200" y="60167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Malgun Gothic"/>
              </a:defRPr>
            </a:pPr>
            <a:r>
              <a:t>KFTC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80160" y="60167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[KFTC]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286000" y="6016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kftcvan.or.kr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114800" y="60167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029200" y="6016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858000" y="60167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algun Gothic"/>
              </a:defRPr>
            </a:pPr>
            <a:r>
              <a:t>SeqNo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229600" y="60167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Point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486400" y="1005840"/>
            <a:ext cx="64008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66928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성격 분류 범례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669280" y="13716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IP / Port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772400" y="13716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VAN사 제공 공통값, 매장별 동일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66928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Malgun Gothic"/>
              </a:defRPr>
            </a:pPr>
            <a:r>
              <a:t>DANMALNO / Snumber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772400" y="16002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가맹점 단말기 고유번호, 기기별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0" y="18288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SingPad_BPS / SingCall_Type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772400" y="18288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서명패드 HW 설정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pos_config.ini - [Self] 셀프키오스크 전용 (73키)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320040"/>
            <a:ext cx="1828800" cy="292608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Self_YN=1 일때 활성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Malgun Gothic"/>
              </a:defRPr>
            </a:pPr>
            <a:r>
              <a:t>현금 결제 (10키)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2344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현금 결제 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081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self_CashPort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081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현금기 COM포트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819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self_CashSleep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58191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현금기 대기시간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556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self_CashPhonNum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7556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현금기 연락처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293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self_CashGubun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192938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현금기 종류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103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self_NoHyunYoung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1031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실결제금액 숨김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2768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self_OneHPUse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2768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1만원권 사용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4505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self_50HPUse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4505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5만원권 사용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6243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self_10000Use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243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만원권 사용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7980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27980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카드 결제 비활성화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017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Malgun Gothic"/>
              </a:defRPr>
            </a:pPr>
            <a:r>
              <a:t>봉투/저울 (6키)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246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self_BagPort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32461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봉투 감지 포트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4198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self_StartBag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4198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시작시 봉투 표시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935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Self_MBagSell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35935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복수 봉투 판매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7673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self_LastBag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37673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마지막 봉투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410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Self_ScalePort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39410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저울 COM포트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1148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Self_ScaleLimitG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1148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저울 무게 한도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343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Malgun Gothic"/>
              </a:defRPr>
            </a:pPr>
            <a:r>
              <a:t>STL 보안태그 (6키)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5720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STLGoods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45720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STL 상품 등록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7457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STLNoGoods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47457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STL 미등록 상품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9194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STLGoodsNo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9194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STL 상품번호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0932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STLSoundAdmin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3120" y="50932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STL 관리자 알림음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2669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STLPort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52669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STL COM포트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4406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Bell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5440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셀프 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06240" y="91440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0" y="1005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Malgun Gothic"/>
              </a:defRPr>
            </a:pPr>
            <a:r>
              <a:t>고객 인터페이스 (13키)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12344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SoundGuide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12344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음성 안내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14081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Self_CusNum4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14081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회원번호 4자리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158191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self_NoCustomer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15819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비회원 판매 허용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0" y="17556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self_CusSelect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17556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선택 방식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192938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CusAddUse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0" y="19293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추가 사용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89120" y="21031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Self_CusAddEtc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2103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추가 기타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0" y="22768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CusTopMsg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26480" y="22768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상단 메시지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9120" y="24505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CusBTMsg1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6480" y="24505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버튼 메시지1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89120" y="26243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CusBTMsg2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26480" y="26243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버튼 메시지2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9120" y="27980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self_TouchSoundYN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6480" y="27980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터치 소리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89120" y="29718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self_CusAlarmUse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26480" y="29718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알람 사용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89120" y="3145535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Self_CusAlarmTime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26480" y="314553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알람 시간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89120" y="33192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no_Bill_CusPoint_YN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26480" y="33192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무영수증 고객포인트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89120" y="3611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Malgun Gothic"/>
              </a:defRPr>
            </a:pPr>
            <a:r>
              <a:t>자동 운영 (8키)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89120" y="38404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Auto_Open_YN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26480" y="38404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 개점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89120" y="401421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Auto_Finish_YN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26480" y="40142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 마감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89120" y="41879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Auto_Day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26480" y="4187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 운영 날짜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89120" y="43616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Auto_AP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0" y="43616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AM/PM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89120" y="453542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Auto_HH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6480" y="45354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9120" y="470916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Auto_MM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26480" y="4709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89120" y="48828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Auto_ID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26480" y="48828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 로그인 ID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89120" y="50566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Auto_Pass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26480" y="50566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 로그인 PW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138160" y="91440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321040" y="1005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Malgun Gothic"/>
              </a:defRPr>
            </a:pPr>
            <a:r>
              <a:t>포인트/알림 (11키)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21040" y="12344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self_NoAutoPoint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58400" y="12344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자동포인트 비활성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321040" y="14081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self_PointZero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058400" y="14081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포인트 초기화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321040" y="158191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self_PointHidden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058400" y="15819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포인트 숨김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21040" y="17556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Self_PointSMSUse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58400" y="17556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포인트 SMS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21040" y="192938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Self_UserCall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58400" y="19293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직원호출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21040" y="21031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Self_SMSAdmin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058400" y="2103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관리자 SMS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321040" y="22768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Self_Kakao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058400" y="22768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카카오 알림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321040" y="24505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Self_Zero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58400" y="24505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제로클릭 알림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21040" y="26243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self_ICSiren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058400" y="26243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IC 사이렌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321040" y="27980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Self_CamUse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058400" y="27980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카메라 사용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1040" y="29718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self_SNSGubun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058400" y="29718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SNS 구분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321040" y="3200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Malgun Gothic"/>
              </a:defRPr>
            </a:pPr>
            <a:r>
              <a:t>UI/화면 (9키)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21040" y="34290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Self_MainPage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058400" y="34290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메인페이지 표시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21040" y="36027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Self_BTInit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58400" y="36027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초기화 버튼 표시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321040" y="37764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Self_OneCancel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058400" y="37764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개별취소 버튼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321040" y="39502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Self_zHotKey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058400" y="39502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Z핫키 사용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1239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self_CountYN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058400" y="41239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계수버튼 표시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321040" y="4297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self_StartHotKey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058400" y="42976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시작 핫키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321040" y="447141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self_PriceUse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058400" y="44714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가격 조정 사용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321040" y="46451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self_PriceType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58400" y="46451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가격 유형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321040" y="48188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Self_Reader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058400" y="48188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ID 리더기 유형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321040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Malgun Gothic"/>
              </a:defRPr>
            </a:pPr>
            <a:r>
              <a:t>인쇄/기타 (10키)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321040" y="5303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Self_AutoPrint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058400" y="53035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 출력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54772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self_StoPrint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058400" y="54772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출력 중지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321040" y="56509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self_PrintAddress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058400" y="56509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주소 출력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321040" y="58247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self_PrintPhon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058400" y="58247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전화번호 출력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321040" y="59984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Self_JPYN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058400" y="59984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일본 모드(동전교환)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321040" y="61722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self_BagJPPort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58400" y="6172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JP 봉투 포트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321040" y="63459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Self_NoAutoGoods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058400" y="63459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자동상품 비활성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321040" y="65196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self_AppCard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058400" y="65196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앱카드 사용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321040" y="66934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self_Apple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058400" y="66934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애플페이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321040" y="68671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Self_Gif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058400" y="68671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GIF 파일 경로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pos_config.ini - 기타 기기 + POSON2 + UI/색상 (52키)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3749039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Malgun Gothic"/>
              </a:defRPr>
            </a:pPr>
            <a:r>
              <a:t>[FaceCam] 안면인식 (4키)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801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안면인식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TimeOut_Use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8132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타임아웃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824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Dealy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68249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지연시간 (초)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836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TimeOut_Sec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8836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타임아웃 (초)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468880"/>
            <a:ext cx="3749039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Malgun Gothic"/>
              </a:defRPr>
            </a:pPr>
            <a:r>
              <a:t>[JaPan] 자판기 (7키)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8346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Auto_Open_YN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8346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 개점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3580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jp_Port1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0358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자판기 포트1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369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jp_Port2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2369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자판기 포트2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jp_StoYN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4381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재고관리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393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jp_oneSell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6393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단일상품 판매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404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jp_FirstPage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8404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첫페이지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416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jp_SellPriShow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0416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판매가 표시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480560"/>
            <a:ext cx="3749039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Malgun Gothic"/>
              </a:defRPr>
            </a:pPr>
            <a:r>
              <a:t>[Selfimg] 이미지셀프 (6키)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8463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ScanUse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846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스캔 사용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029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onlyShop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5029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매장전용 판매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120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prepayment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52120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선결제 사용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94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selfImg_TableNoUse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5394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테이블번호 미사용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577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selfImg_TableNumUse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5577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테이블숫자 사용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7607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self_SNSGubun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5760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SNS 구분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989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72B6"/>
                </a:solidFill>
                <a:latin typeface="Malgun Gothic"/>
              </a:defRPr>
            </a:pPr>
            <a:r>
              <a:t>[Self21] 21인치셀프 (3키)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2179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Self21_CountYN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62179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계수 사용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008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slef21_DCVisible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3120" y="64008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할인 표시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836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self_CusAddEtc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65836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고객추가 기타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06240" y="914400"/>
            <a:ext cx="3749039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0" y="1005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[Dual_Msg] 듀얼 모니터 (7키)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1280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DTop0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1280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듀얼 상단 메시지0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14813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DTop0_Color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14813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상단0 색상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16824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DTop1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16824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듀얼 상단 메시지1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18836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DTop1_Color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0" y="18836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상단1 색상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0" y="20848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DButtom0_Color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20848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하단 색상0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22860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DButtom1~3_Color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5040" y="2286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하단 색상1~3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89120" y="24871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DButtom4_Color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0" y="24871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하단 색상4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06240" y="3154680"/>
            <a:ext cx="3749039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8912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Malgun Gothic"/>
              </a:defRPr>
            </a:pPr>
            <a:r>
              <a:t>[POSON2_*] 통합 기능 (9키)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9120" y="35204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[UPSS] USE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52160" y="35204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UPS 사용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89120" y="37216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[UPSS] SMS_USE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52160" y="37216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SMS 알림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9120" y="392277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[UPSS] MSG_USE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52160" y="39227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메시지 알림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89120" y="412394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[UPSS] Recv_Mobile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52160" y="41239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수신 번호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89120" y="432511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[Login] USE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52160" y="43251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자동로그인 사용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89120" y="452628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[Login] sMoney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52160" y="45262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시재금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89120" y="472744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[Login] 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52160" y="47274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로그인 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89120" y="492861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[wSock] USE_YN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52160" y="49286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웹소켓 사용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89120" y="512978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[wSock] TCP_PORT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52160" y="51297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TCP 포트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206240" y="5897880"/>
            <a:ext cx="3749039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89120" y="5943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[Sale_Color/Font] 색상/폰트 설정 (16키)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138160" y="914400"/>
            <a:ext cx="3749039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321040" y="1005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기타 INI 섹션 (18키)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21040" y="12801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[INI_Pass] DelKey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32720" y="128016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삭제 키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21040" y="15179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[Backup] Path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32720" y="151790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백업 경로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321040" y="17556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[Update_Data] Convert_chk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32720" y="175564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변환 체크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21040" y="19933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[Option] Manual_YN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332720" y="199339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수동 모드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21040" y="223113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[MEMBER_ADD] Tax_Option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32720" y="223113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세금 옵션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321040" y="24688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[Product_Add] Update_Option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332720" y="246888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업데이트 옵션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21040" y="270662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[Product_Add] Customer_Code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32720" y="270662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거래처 코드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21040" y="29443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[Product_Add] Customer_Name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32720" y="29443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거래처명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21040" y="31821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[Product_Add] Group_Code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332720" y="318211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그룹 코드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21040" y="341985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[Product_Add] Group_Name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332720" y="341985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그룹명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21040" y="3657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[Product_Add] Branch_Rate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32720" y="365760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분류 세율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321040" y="38953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[Tag_Print] Size_Print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332720" y="389534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태그 인쇄 크기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21040" y="41330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[Tag_Print] Danwi_Print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32720" y="413308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단위 인쇄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321040" y="437083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[Tag_Print] NRP_Print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332720" y="4370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NRP 인쇄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21040" y="46085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[Tag_Print] Feed_Cnt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332720" y="460857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피드 수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1040" y="48463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[shop_chk] TT_yn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332720" y="48463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매장 체크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21040" y="50840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[Config] Screen_Hide_YN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332720" y="508406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화면 숨김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21040" y="53218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[Shop] KitchenMsg1~4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332720" y="53218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주방 메시지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32104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[Grid_*] 20+섹션 (~100키)</a:t>
            </a:r>
            <a:br/>
            <a:r>
              <a:t>VB6 그리드 컬럼폭 - Vue/CSS로 대체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DB: POS_Set[101] - S_Config (78+필드)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20040"/>
            <a:ext cx="1828800" cy="29260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SERVER DB / 매장 공통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서버 동기화 업무규칙 / 쉼표구분 78+값 / S_Config_Call()로 로딩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3749039" cy="5577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Malgun Gothic"/>
              </a:defRPr>
            </a:pPr>
            <a:r>
              <a:t>출력/인쇄 관련 (12필드)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[0] Group_Print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371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그룹별 출력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45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[3] PrintLine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5453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출력 라인(1/2줄)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19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[11] Boryu_Print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7190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보류 출력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928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[15] Print_Barcode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892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바코드 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066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[16] Print_VAT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0665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부가세 출력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2402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[17] Bott_Print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2402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하단 합계 출력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140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[23] Card_Detail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4140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카드 상세 출력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587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[24] SuPyo_Print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5877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수표 출력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7614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[28] Print_ShopBarcode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27614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매장바코드 출력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93522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[29] Print_SignJeonpyo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29352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서명패드 전표 출력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108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[30] TranJeonpyo2_YN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108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반품 전표 2매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282695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[53] Seq_Print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328269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순차 출력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20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Malgun Gothic"/>
              </a:defRPr>
            </a:pPr>
            <a:r>
              <a:t>판매/업무 규칙 (11필드)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794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[1] Money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7947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금액 표시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9684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[2] NewProduct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39684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신규상품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1422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[4] Cash_Pass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41422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현금 비밀번호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3159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[5] Price_Zero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43159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0원 판매 허용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4897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[8] CancelAll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44897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전체취소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6634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[9] JeonPyo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46634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전표 사용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8371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[10] Tran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8371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거래 사용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010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[12] Card_CashOpen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50109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카드시 캐시드로워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1846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[13] CancelAll_Bigo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51846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전체취소 비고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35838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[14] No_Credit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53583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외상 불가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5321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[20] Grouping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55321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상품 그룹핑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06240" y="1005840"/>
            <a:ext cx="3749039" cy="5577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0" y="1097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Malgun Gothic"/>
              </a:defRPr>
            </a:pPr>
            <a:r>
              <a:t>판매/업무 규칙2 (11필드)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1371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[19] InPriView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1371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매입가 표시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1545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[21] BanPum_PassChk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15453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반품 비밀번호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0" y="1719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[22] MEMPrice_Chk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17190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회원 한도 체크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18928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[27] HyeonGeum_Chk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1892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현금 강제입력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89120" y="2066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[32] Jeonpyo_HiddenYN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20665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전표번호 숨김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0" y="22402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[33] InTran_JeonpyoYN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22402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입금 전표 사용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9120" y="24140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[46] Finish_TranChk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24140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마감 거래 불가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89120" y="2587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[54] BanPum_Chk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25877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반품 전표 확인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9120" y="27614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[55] BoryuMsg_View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27614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보류 메시지 표시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89120" y="293522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[57] Boryu_Detail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29352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보류 상세 표시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89120" y="3108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[65] Goods_Use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17920" y="3108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판매시 재고 사용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89120" y="3383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Malgun Gothic"/>
              </a:defRPr>
            </a:pPr>
            <a:r>
              <a:t>바코드/저울 (3필드)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89120" y="3657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[31] Resend_BarcodeYN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0" y="3657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재전송 바코드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89120" y="3831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[56] Scale_18_YN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38313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18자리 저울 바코드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89120" y="4005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[102] Group_Sel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0" y="40050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그룹 선택(대/중)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89120" y="4251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Malgun Gothic"/>
              </a:defRPr>
            </a:pPr>
            <a:r>
              <a:t>금액/세금/메시지 (15필드)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89120" y="452628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[51] Change_Type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9360" y="45262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거스름돈 유형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89120" y="47000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[52] Change_Auto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09360" y="47000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거스름돈 자동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89120" y="48737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[58] Min_PrintYN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60" y="48737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최소금액 출력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9120" y="504748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[59] Min_PointYN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9360" y="50474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최소금액 포인트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89120" y="522122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[60] Min_Price1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09360" y="522122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최소금액1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89120" y="53949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[61] Min_Price2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09360" y="539496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최소금액2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89120" y="5568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[62] Tax_Auto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09360" y="556869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세금 자동발행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89120" y="57424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[63] Profit_Msg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09360" y="57424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이익 메시지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89120" y="59161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[64] SaleMsg_YN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09360" y="59161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 메시지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389120" y="608990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[237] Tax_Gubun_View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09360" y="60899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세금 구분 표시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389120" y="626364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[241] POS_Smoney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09360" y="62636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POS 준비금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389120" y="6437375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[242] FACE_ADD_Point_Chk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09360" y="6437375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안면인식 포인트 체크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89120" y="66111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[243] FACE_ADD_Point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09360" y="66111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안면인식 포인트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389120" y="678484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[252~256] SalePrice_MSG*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09360" y="67848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판매금액 메시지 (5종)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138160" y="1005840"/>
            <a:ext cx="3749039" cy="5577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321040" y="1097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Malgun Gothic"/>
              </a:defRPr>
            </a:pPr>
            <a:r>
              <a:t>포인트/회원 관련 (14필드)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321040" y="1371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[6] Sale_Point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149840" y="1371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판매 포인트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21040" y="1545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[7] Weight_Point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149840" y="15453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중량 포인트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1040" y="1719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[18] CashBack_YN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149840" y="17190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캐시백 사용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21040" y="18928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[25] Tran_Point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149840" y="1892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거래 포인트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21040" y="2066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[26] Sale_CashbackPoint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149840" y="20665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캐시백 포인트 적립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321040" y="22402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[45] Tran_Pointchk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49840" y="22402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반품 포인트 체크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321040" y="24140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[47] MEM_DecList_YN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149840" y="24140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회원 차감 목록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2587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[48] MEM_DecList_Msg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149840" y="25877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회원 차감 메시지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321040" y="27614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[49] Dec_PointChk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149840" y="27614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차감 포인트 체크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321040" y="293522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[50] Dec_PointPer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149840" y="29352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차감 포인트율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321040" y="3108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[245] DEC_MEMO_Chk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149840" y="31089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차감 메모 체크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321040" y="3282695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POS_Count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149840" y="328269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POS 대수 (별도)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321040" y="34564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Tran_PointPer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149840" y="34564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거래 포인트율 (%)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321040" y="36301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Dec_PointPer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149840" y="36301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차감 포인트율 (%)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321040" y="3886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72B6"/>
                </a:solidFill>
                <a:latin typeface="Malgun Gothic"/>
              </a:defRPr>
            </a:pPr>
            <a:r>
              <a:t>럭키유저/이벤트 (11필드)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321040" y="4160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[34] LU_Chk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149840" y="41605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체크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321040" y="43342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[35] LU_Per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149840" y="43342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확률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321040" y="45079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[36] LU_Point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149840" y="45079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포인트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321040" y="46817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[37] LU_CardPer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149840" y="46817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카드 확률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321040" y="4855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[38] LU_SPoint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149840" y="48554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S포인트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321040" y="5029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[39] LU_MinPrice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149840" y="5029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최소금액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321040" y="52029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[40] LU_Sound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149840" y="52029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소리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321040" y="53766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[41] LU_Print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149840" y="53766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출력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321040" y="55504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[42] LU_Opt1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149840" y="55504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옵션1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321040" y="57241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[43] LU_Opt2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149840" y="57241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옵션2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321040" y="58978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[44] LU_Price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149840" y="5897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럭키유저 금액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DB: Office_User (Shop) + 전체 통계 + 마이그레이션 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53035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Office_User - Shop Type (24+필드)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OFFICE_NAME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매장명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258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9504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office_num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950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사업자번호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4950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6420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owner_name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6642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대표자명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642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833371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office_tel1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833371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전화번호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833371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00253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address1+2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00253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00253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17170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sto_cd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1717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매장코드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1717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340863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2340863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버전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340863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5100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OFFICE_NAME2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25100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출력용 매장명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5100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7919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Online_KEY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26791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온라인 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26791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84835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en_use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284835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고객 암호화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84835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017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eBill_sms_yn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3017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SMS 사용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0175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18668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eBill_auto_sms_yn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318668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자동 SMS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318668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355847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eBill_push_yn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335584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푸시 사용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335584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52501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eBill_push_title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35250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푸시 제목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35250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69417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eBill_push_msg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36941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푸시 메시지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369417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8633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eBill_push_link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94560" y="38633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푸시 링크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38633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03250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D3EE"/>
                </a:solidFill>
                <a:latin typeface="Malgun Gothic"/>
              </a:defRPr>
            </a:pPr>
            <a:r>
              <a:t>strBarcode_YN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4560" y="403250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확장바코드 사용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403250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공통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420166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472B6"/>
                </a:solidFill>
                <a:latin typeface="Malgun Gothic"/>
              </a:defRPr>
            </a:pPr>
            <a:r>
              <a:t>selfPos_Hotkey1~4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4560" y="42016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셀프 핫키 1~4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0" y="42016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셀프전용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37083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472B6"/>
                </a:solidFill>
                <a:latin typeface="Malgun Gothic"/>
              </a:defRPr>
            </a:pPr>
            <a:r>
              <a:t>SMS_GUBUN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94560" y="43708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SNS 구분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0" y="437083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셀프전용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453999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D4BF"/>
                </a:solidFill>
                <a:latin typeface="Malgun Gothic"/>
              </a:defRPr>
            </a:pPr>
            <a:r>
              <a:t>kitchenMsg1~5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94560" y="453999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주방 메시지 1~5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0" y="453999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주방전용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852160" y="914400"/>
            <a:ext cx="603504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3504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저장소별 항목 수 통계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35040" y="132588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pos_config.ini (POS 런타임)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13258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Malgun Gothic"/>
              </a:defRPr>
            </a:pPr>
            <a:r>
              <a:t>~446 키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149961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[Other] POS 업무 설정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149961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Malgun Gothic"/>
              </a:defRPr>
            </a:pPr>
            <a:r>
              <a:t>75 키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167335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[Terminal] HW 설정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16733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Malgun Gothic"/>
              </a:defRPr>
            </a:pPr>
            <a:r>
              <a:t>42 키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184708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[Card]+VAN 13개사 결제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15600" y="18470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Malgun Gothic"/>
              </a:defRPr>
            </a:pPr>
            <a:r>
              <a:t>65+ 키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2020824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[Self] 셀프키오스크 전용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15600" y="202082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Malgun Gothic"/>
              </a:defRPr>
            </a:pPr>
            <a:r>
              <a:t>73 키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17920" y="219456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[FaceCam/JaPan/Selfimg/Self21/Dual/POSON2]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15600" y="21945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Malgun Gothic"/>
              </a:defRPr>
            </a:pPr>
            <a:r>
              <a:t>52 키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236829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[Grid_*] VB6 그리드 컬럼폭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0" y="236829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Malgun Gothic"/>
              </a:defRPr>
            </a:pPr>
            <a:r>
              <a:t>~100 키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17920" y="254203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Malgun Gothic"/>
              </a:defRPr>
            </a:pPr>
            <a:r>
              <a:t>영수증/애플리케이션/DB접속/기타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15600" y="25420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Malgun Gothic"/>
              </a:defRPr>
            </a:pPr>
            <a:r>
              <a:t>39 키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35040" y="2889504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DB: POS_Set[101] (S_Config)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15600" y="288950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4ADE80"/>
                </a:solidFill>
                <a:latin typeface="Malgun Gothic"/>
              </a:defRPr>
            </a:pPr>
            <a:r>
              <a:t>~78 필드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35040" y="306324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DB: Office_User (Shop)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15600" y="30632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~24 필드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35040" y="34107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Malgun Gothic"/>
              </a:defRPr>
            </a:pPr>
            <a:r>
              <a:t>POS 런타임 합계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15600" y="341071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DD4BF"/>
                </a:solidFill>
                <a:latin typeface="Malgun Gothic"/>
              </a:defRPr>
            </a:pPr>
            <a:r>
              <a:t>~548 항목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35040" y="358444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78BFA"/>
                </a:solidFill>
                <a:latin typeface="Malgun Gothic"/>
              </a:defRPr>
            </a:pPr>
            <a:r>
              <a:t>config.ini (관리프로그램 전용)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15600" y="358444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78BFA"/>
                </a:solidFill>
                <a:latin typeface="Malgun Gothic"/>
              </a:defRPr>
            </a:pPr>
            <a:r>
              <a:t>~350 키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74320" y="4069080"/>
            <a:ext cx="1161288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Malgun Gothic"/>
              </a:defRPr>
            </a:pPr>
            <a:r>
              <a:t>ASIS -&gt; TOBE 마이그레이션 맵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" y="44805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Malgun Gothic"/>
              </a:defRPr>
            </a:pPr>
            <a:r>
              <a:t>ASIS 저장소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200400" y="44805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Malgun Gothic"/>
              </a:defRPr>
            </a:pPr>
            <a:r>
              <a:t>ASIS 설정 유형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46320" y="44805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Malgun Gothic"/>
              </a:defRPr>
            </a:pPr>
            <a:r>
              <a:t>항목 수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77840" y="44805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Malgun Gothic"/>
              </a:defRPr>
            </a:pPr>
            <a:r>
              <a:t>TOBE 저장 위치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863840" y="44805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Malgun Gothic"/>
              </a:defRPr>
            </a:pPr>
            <a:r>
              <a:t>비고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65760" y="4700016"/>
            <a:ext cx="11430000" cy="21031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57200" y="47091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INI [Other]+[Sale]+[Receipt]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200400" y="4709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공통 설정 + 영수증 + 업무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46320" y="47091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~100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577840" y="4709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DB: SystemSetting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863840" y="47091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6개 카테고리: SALE/PAYMENT/PRINT/POINT/BARCODE/SYSTEM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200" y="49194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INI [Terminal]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00400" y="49194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터미널 HW 설정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46320" y="491947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~42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77840" y="491947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DB: DeviceSetting (TERMINAL)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863840" y="491947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개별 POS/KIOSK/KITCHEN 기기별 관리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65760" y="5120640"/>
            <a:ext cx="11430000" cy="21031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57200" y="512978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INI [Card]+VAN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00400" y="51297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VAN 결제 설정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846320" y="512978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~65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77840" y="51297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DB: DeviceSetting (VAN)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863840" y="512978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12개 VAN사 통합 관리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534009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INI [Self]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200400" y="53400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셀프키오스크 전용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46320" y="53400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~73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577840" y="53400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DB: DeviceSetting (SELF_*)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863840" y="534009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6개 하위: CASH/BAG/AUTO/POINT/PRINT/ETC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65760" y="5541264"/>
            <a:ext cx="11430000" cy="21031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57200" y="5550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INI [FaceCam/JaPan/Selfimg/Self21]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00400" y="55504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기타 기기 전용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846320" y="555040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~20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577840" y="55504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DB: DeviceSetting (TYPE_*)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63840" y="55504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기기 유형별 분리 관리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57200" y="57607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DB: POS_Set[101]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200400" y="57607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업무 규칙 공통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46320" y="57607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~78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577840" y="57607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DB: SystemSetting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863840" y="57607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기존 DB에서 DB로 이전 (구조 개선)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65760" y="5961888"/>
            <a:ext cx="11430000" cy="21031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57200" y="597103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DB: Office_User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200400" y="59710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매장 기본 정보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846320" y="597103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~24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577840" y="59710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DB: SystemSetting / Business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863840" y="597103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BusinessView.vue에서 관리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57200" y="61813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INI [Grid_*]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200400" y="618134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VB6 그리드 컬럼폭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846320" y="61813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~100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577840" y="618134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마이그레이션 제외 (Vue/CSS)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863840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대체 불필요 - Vue/CSS로 처리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6382512"/>
            <a:ext cx="11430000" cy="21031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57200" y="639165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D3EE"/>
                </a:solidFill>
                <a:latin typeface="Malgun Gothic"/>
              </a:defRPr>
            </a:pPr>
            <a:r>
              <a:t>config.ini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200400" y="63916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Malgun Gothic"/>
              </a:defRPr>
            </a:pPr>
            <a:r>
              <a:t>관리프로그램 전용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46320" y="63916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Malgun Gothic"/>
              </a:defRPr>
            </a:pPr>
            <a:r>
              <a:t>~350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577840" y="63916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ADE80"/>
                </a:solidFill>
                <a:latin typeface="Malgun Gothic"/>
              </a:defRPr>
            </a:pPr>
            <a:r>
              <a:t>별도 관리 프로그램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863840" y="639165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Malgun Gothic"/>
              </a:defRPr>
            </a:pPr>
            <a:r>
              <a:t>POS 런타임과 무관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