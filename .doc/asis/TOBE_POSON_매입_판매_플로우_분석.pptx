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algun Gothic"/>
              </a:defRPr>
            </a:pPr>
            <a:r>
              <a:t>POSON POS  /  Electron + Vue 3 +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Malgun Gothic"/>
              </a:defRPr>
            </a:pPr>
            <a:r>
              <a:t>TOBE 매입 ~ 판매 비즈니스 플로우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DD4BF"/>
                </a:solidFill>
                <a:latin typeface="Malgun Gothic"/>
              </a:defRPr>
            </a:pPr>
            <a:r>
              <a:t>Express + TypeScript + Prisma + PostgreSQL  |  Vue 3 + Pinia + Tailwind  |  Electron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572000"/>
            <a:ext cx="219456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4663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Tech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5029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Express + Vue 3 + Electron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572000"/>
            <a:ext cx="219456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7640" y="4663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40" y="5029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PostgreSQL + Prisma 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572000"/>
            <a:ext cx="219456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4663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029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Redis (5min TTL)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4572000"/>
            <a:ext cx="2194560" cy="1005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15400" y="46634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분석일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50292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2026-02-19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전체 비즈니스 사이클 (TOBE)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188720"/>
            <a:ext cx="15544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28600" y="1261872"/>
            <a:ext cx="41148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거래처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Supplier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SuppliersView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737360" y="1965960"/>
            <a:ext cx="13716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874520" y="1188720"/>
            <a:ext cx="15544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920240" y="1261872"/>
            <a:ext cx="41148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매입상품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PurchaseProduct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카탈로그+재고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429000" y="1965960"/>
            <a:ext cx="137160" cy="27432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66160" y="1188720"/>
            <a:ext cx="15544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11880" y="1261872"/>
            <a:ext cx="41148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매입 주문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Purchase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트랜잭션+StockMovement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120640" y="1965960"/>
            <a:ext cx="137160" cy="27432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257800" y="1188720"/>
            <a:ext cx="15544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303520" y="1261872"/>
            <a:ext cx="411480" cy="32004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상품 등록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다국어+M:N Category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812280" y="1965960"/>
            <a:ext cx="13716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949440" y="1188720"/>
            <a:ext cx="15544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995160" y="1261872"/>
            <a:ext cx="41148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판매/주문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Order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Kiosk MenuView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503920" y="1965960"/>
            <a:ext cx="137160" cy="274320"/>
          </a:xfrm>
          <a:prstGeom prst="rightArrow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641080" y="1188720"/>
            <a:ext cx="15544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686800" y="1261872"/>
            <a:ext cx="41148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결제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PaymentService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Strategy+Failover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0195560" y="1965960"/>
            <a:ext cx="137160" cy="27432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332720" y="1188720"/>
            <a:ext cx="155448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378440" y="1261872"/>
            <a:ext cx="41148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완료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CompleteView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2423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30초 자동 복귀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핵심 DB 모델 (PostgreSQL + Prisma)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3794760"/>
            <a:ext cx="5669280" cy="4572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7200" y="3840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Malgun Gothic"/>
              </a:defRPr>
            </a:pPr>
            <a:r>
              <a:t>Supplier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94560" y="3840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거래처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3840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id, code(S001~), name, type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4343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Malgun Gothic"/>
              </a:defRPr>
            </a:pPr>
            <a:r>
              <a:t>PurchaseProduct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94560" y="4343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매입상품+재고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80" y="4343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id, barcode, stock, safeStock, costPrice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4800600"/>
            <a:ext cx="5669280" cy="4572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4846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Malgun Gothic"/>
              </a:defRPr>
            </a:pPr>
            <a:r>
              <a:t>Purchase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94560" y="4846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매입 주문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4846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id, purchaseCode(P날짜-NNN), status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349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Malgun Gothic"/>
              </a:defRPr>
            </a:pPr>
            <a:r>
              <a:t>PurchaseItem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4560" y="5349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매입 상세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83280" y="5349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purchaseId(CASCADE), qty, unitPrice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65760" y="5806440"/>
            <a:ext cx="5669280" cy="4572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57200" y="5852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Malgun Gothic"/>
              </a:defRPr>
            </a:pPr>
            <a:r>
              <a:t>StockMovement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194560" y="5852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재고 이력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83280" y="5852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type(6종), qty(±), before/after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09360" y="3794760"/>
            <a:ext cx="5669280" cy="4572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00800" y="38404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Malgun Gothic"/>
              </a:defRPr>
            </a:pPr>
            <a:r>
              <a:t>Category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38160" y="38404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카테고리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26880" y="3840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id, name(다국어4), imageUrl, sortOrder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0" y="4343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Malgun Gothic"/>
              </a:defRPr>
            </a:pPr>
            <a:r>
              <a:t>Product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38160" y="43434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판매 상품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26880" y="43434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id, barcode, sellPrice, status, options[]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309360" y="4800600"/>
            <a:ext cx="5669280" cy="4572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400800" y="4846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Malgun Gothic"/>
              </a:defRPr>
            </a:pPr>
            <a:r>
              <a:t>Order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138160" y="4846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판매 주문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26880" y="4846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id(UUID), orderNumber(YYMMDD-NNNN)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5349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Malgun Gothic"/>
              </a:defRPr>
            </a:pPr>
            <a:r>
              <a:t>OrderItem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38160" y="5349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판매 상세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26880" y="53492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orderId(CASCADE), productId, qty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309360" y="5806440"/>
            <a:ext cx="5669280" cy="4572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400800" y="58521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D4BF"/>
                </a:solidFill>
                <a:latin typeface="Malgun Gothic"/>
              </a:defRPr>
            </a:pPr>
            <a:r>
              <a:t>Payment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38160" y="58521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결제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326880" y="5852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id(UUID), vanCode, approvalNumber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8229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매입 플로우: 거래처 → 매입상품 → 매입주문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3657600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3152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UC-T01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거래처 등록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1. SuppliersView 진입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2. 거래처 추가 버튼 클릭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3. 정보 입력 (이름 필수)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4. POST /api/v1/suppliers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5. 사업자번호 중복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6. 코드 자동생성 (S001~)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7. prisma.supplier.create()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Malgun Gothic"/>
              </a:defRPr>
            </a:pPr>
            <a:r>
              <a:t>8. Redis 캐시 무효화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Supplier 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code(UNIQUE), name, type(5종)</a:t>
            </a:r>
            <a:br/>
            <a:r>
              <a:t>businessNumber, discountRate</a:t>
            </a:r>
            <a:br/>
            <a:r>
              <a:t>Soft Delete (isActive)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931920" y="3200400"/>
            <a:ext cx="22860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206240" y="914400"/>
            <a:ext cx="3657600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297680" y="1005840"/>
            <a:ext cx="73152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UC-T02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매입상품 등록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508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1. PurchaseProductsView 진입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2. 바코드 스캔 or 자동생성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331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next-barcode API 호출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743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4. 상품정보 입력 (6개 필수)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5. 거래처 선택 (supplierId)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6. POST /purchase-products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9776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7. 바코드 중복 확인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8. create (stock=0 초기)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5029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PurchaseProduct 모델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349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barcode(UNIQUE), stock, safeStock</a:t>
            </a:r>
            <a:br/>
            <a:r>
              <a:t>costPrice, vatAmount, taxType</a:t>
            </a:r>
            <a:br/>
            <a:r>
              <a:t>lCode/mCode/sCode (분류)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863840" y="3200400"/>
            <a:ext cx="228600" cy="27432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138160" y="914400"/>
            <a:ext cx="3749039" cy="53035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229600" y="1005840"/>
            <a:ext cx="73152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UC-T03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1005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매입 주문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15087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1. PurchaseRegisterView 진입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189280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2. 거래처 선택 (드롭다운)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27685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3. 상품 검색 → 추가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266090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4. 수량/단가 입력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0449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5. POST /api/v1/purchases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34290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Malgun Gothic"/>
              </a:defRPr>
            </a:pPr>
            <a:r>
              <a:t>6. $transaction 시작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38130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algun Gothic"/>
              </a:defRPr>
            </a:pPr>
            <a:r>
              <a:t>  Purchase(CONFIRMED)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19709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  stock += qty (증가)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581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  StockMovement 기록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49651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Malgun Gothic"/>
              </a:defRPr>
            </a:pPr>
            <a:r>
              <a:t>10. 캐시 무효화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3949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Malgun Gothic"/>
              </a:defRPr>
            </a:pPr>
            <a:r>
              <a:t>코드: P{YYYYMMDD}-{NNN}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5715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7171"/>
                </a:solidFill>
                <a:latin typeface="Malgun Gothic"/>
              </a:defRPr>
            </a:pPr>
            <a:r>
              <a:t>트랜잭션 필수 (재고 원자성)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8229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ADMIN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상품 등록 → 재고 현황 → 매입 내역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14400"/>
            <a:ext cx="3657600" cy="5486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31520" cy="32004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UC-T04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판매 상품 등록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1. ProductsView 진입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BDF8"/>
                </a:solidFill>
                <a:latin typeface="Malgun Gothic"/>
              </a:defRPr>
            </a:pPr>
            <a:r>
              <a:t>2. 매입상품 연결 or 독립 등록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  연결: barcode 자동 상속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4. 상품정보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  name(다국어4), sellPrice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91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  categoryIds[] (M:N)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7. 옵션 추가 (사이즈/토핑)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8BDF8"/>
                </a:solidFill>
                <a:latin typeface="Malgun Gothic"/>
              </a:defRPr>
            </a:pPr>
            <a:r>
              <a:t>8. POST /api/v1/products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9. purchaseProductId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10. categories M:N 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BBF24"/>
                </a:solidFill>
                <a:latin typeface="Malgun Gothic"/>
              </a:defRPr>
            </a:pPr>
            <a:r>
              <a:t>11. 캐시 무효화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D4BF"/>
                </a:solidFill>
                <a:latin typeface="Malgun Gothic"/>
              </a:defRPr>
            </a:pPr>
            <a:r>
              <a:t>상태: SELLING / SOLD_OUT / PENDING / HIDDEN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931920" y="3200400"/>
            <a:ext cx="228600" cy="274320"/>
          </a:xfrm>
          <a:prstGeom prst="rightArrow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206240" y="914400"/>
            <a:ext cx="3657600" cy="5486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297680" y="1005840"/>
            <a:ext cx="73152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UC-T05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1005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재고 현황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1554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BD5E1"/>
                </a:solidFill>
                <a:latin typeface="Malgun Gothic"/>
              </a:defRPr>
            </a:pPr>
            <a:r>
              <a:t>전체 상품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554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모든 매입상품 카운트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Malgun Gothic"/>
              </a:defRPr>
            </a:pPr>
            <a:r>
              <a:t>정상 재고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stock &gt; safeStock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468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Malgun Gothic"/>
              </a:defRPr>
            </a:pPr>
            <a:r>
              <a:t>낮은 재고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0 &lt; stock &lt;= safeStock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2926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Malgun Gothic"/>
              </a:defRPr>
            </a:pPr>
            <a:r>
              <a:t>품절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2926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stock &lt;= 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383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재고 가치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sum(stock x costPrice)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필터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29768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- 상품명/바코드 검색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645152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- 재고 상태: ALL / NORMAL / LOW / 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992624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- 재고 조정: POST /stock-movements/adjust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340096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- 재고 동기화: POST /sync-stock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669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ADE80"/>
                </a:solidFill>
                <a:latin typeface="Malgun Gothic"/>
              </a:defRPr>
            </a:pPr>
            <a:r>
              <a:t>재고 변동: 매입(+), 판매(-), 조정(±)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7863840" y="3200400"/>
            <a:ext cx="228600" cy="27432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138160" y="914400"/>
            <a:ext cx="3749039" cy="5486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229600" y="1005840"/>
            <a:ext cx="73152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UC-T06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10058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매입 내역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1554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3개 탭 구성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03920" y="1965960"/>
            <a:ext cx="91440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날짜별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1984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날짜 범위 검색, 매입 목록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03920" y="2560320"/>
            <a:ext cx="91440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거래처별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2578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거래처 그룹핑, 총액/건수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03920" y="3154680"/>
            <a:ext cx="91440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결제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31729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미결제/기결제 구분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필터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1605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- 거래처 선택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448055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- 상태: DRAFT / CONFIRMED / CANCELLED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48006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- 날짜 범위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51206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- 상세 모달: 매입 품목 목록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54864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매입 취소 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5760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87171"/>
                </a:solidFill>
                <a:latin typeface="Malgun Gothic"/>
              </a:defRPr>
            </a:pPr>
            <a:r>
              <a:t>DELETE → stock 자동 감소 (트랜잭션)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82296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KIOSK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UC-K01: 키오스크 주문 플로우 (1/2) - 메뉴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고객 (셀프)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777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WelcomeView → MenuView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777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Malgun Gothic"/>
              </a:defRPr>
            </a:pPr>
            <a:r>
              <a:t>useCartStore + useProductsStore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" y="1280160"/>
            <a:ext cx="274320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4320" y="1371600"/>
            <a:ext cx="8229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1단계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783080"/>
            <a:ext cx="2468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 smtClean="0"/>
              <a:t>초기</a:t>
            </a:r>
            <a:r>
              <a:rPr dirty="0" smtClean="0"/>
              <a:t> </a:t>
            </a:r>
            <a:r>
              <a:rPr dirty="0" err="1"/>
              <a:t>화면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20040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WelcomeView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651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시작 버튼 터치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017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언어 선택 (ko/en/ja/zh)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26080" y="2286000"/>
            <a:ext cx="22860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154680" y="1280160"/>
            <a:ext cx="274320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246120" y="1371600"/>
            <a:ext cx="82296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2단계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카테고리 선택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좌측 사이드바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651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productsStore.selectCategory()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017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프리셋 아이콘/이미지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5897880" y="2286000"/>
            <a:ext cx="228600" cy="27432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126480" y="1280160"/>
            <a:ext cx="274320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17920" y="1371600"/>
            <a:ext cx="82296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3단계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상품 선택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상품 그리드 (2-6컬럼)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651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할인 배지 / 품절 오버레이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017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재고 확인 (stock)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869680" y="2286000"/>
            <a:ext cx="228600" cy="27432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098280" y="1280160"/>
            <a:ext cx="2743200" cy="2377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189720" y="1371600"/>
            <a:ext cx="82296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4단계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17830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옵션 선택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옵션 모달 표시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6517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옵션 가격 합산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0175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cartStore.addItem()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장바구니 (MenuView 하단 푸터)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4389120"/>
            <a:ext cx="1161288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주문 요약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4572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상품명 + 옵션 / 수량 ± 버튼 / 삭제 / 금액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074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Malgun Gothic"/>
              </a:defRPr>
            </a:pPr>
            <a:r>
              <a:t>합계 표시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5074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총 개수 + 총 금액 (크고 굵게)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Malgun Gothic"/>
              </a:defRPr>
            </a:pPr>
            <a:r>
              <a:t>결제하기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5577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빨간 버튼 (장바구니 비면 비활성화)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59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4A3B8"/>
                </a:solidFill>
                <a:latin typeface="Malgun Gothic"/>
              </a:defRPr>
            </a:pPr>
            <a:r>
              <a:t>취소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399" y="4572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cartStore.clear() → WelcomeView 복귀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59" y="5074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Malgun Gothic"/>
              </a:defRPr>
            </a:pPr>
            <a:r>
              <a:t>토스트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399" y="5074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'상품명이 장바구니에 추가되었습니다' (2.5초)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59" y="5577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Malgun Gothic"/>
              </a:defRPr>
            </a:pPr>
            <a:r>
              <a:t>품절 체크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399" y="5577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status=SOLD_OUT/PENDING or stock&lt;=0 → 선택 불가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228600"/>
            <a:ext cx="82296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KIOSK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algun Gothic"/>
              </a:defRPr>
            </a:pPr>
            <a:r>
              <a:t>UC-K01: 키오스크 주문 플로우 (2/2) - 결제 &amp; 완료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" y="1097280"/>
            <a:ext cx="2743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82296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5단계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결제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PaymentView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68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카드/모바일/현금/스캐너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주문 요약 + 세금(10%)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26080" y="2011680"/>
            <a:ext cx="228600" cy="274320"/>
          </a:xfrm>
          <a:prstGeom prst="rightArrow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54680" y="1097280"/>
            <a:ext cx="2743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246120" y="1188720"/>
            <a:ext cx="8229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6단계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주문 생성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POST /api/v1/orders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468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주문번호: YYMMDD-NNNN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status: PENDING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97880" y="2011680"/>
            <a:ext cx="22860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126480" y="1097280"/>
            <a:ext cx="2743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17920" y="1188720"/>
            <a:ext cx="82296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7단계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결제 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POST /api/v1/payments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468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VAN Strategy + Failover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idempotencyKey 중복방지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869680" y="2011680"/>
            <a:ext cx="228600" cy="27432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098280" y="1097280"/>
            <a:ext cx="2743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89720" y="1188720"/>
            <a:ext cx="82296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8단계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16002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상태 변경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1031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PATCH /orders/:id/status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4688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PENDING → PAID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8346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stock -= qty (트랜잭션)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2880" y="3657600"/>
            <a:ext cx="27432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74320" y="3749040"/>
            <a:ext cx="82296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9단계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4160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주문 완료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4663440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CompleteView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5010912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주문번호 표시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5358384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승인번호 or 거스름돈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926080" y="4572000"/>
            <a:ext cx="228600" cy="27432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154680" y="3657600"/>
            <a:ext cx="27432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246120" y="3749040"/>
            <a:ext cx="8229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10단계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4160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카운트다운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91840" y="4663440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30초 자동 카운트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5010912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홈으로 돌아가기 버튼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5358384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localeStore.resetLocale()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5897880" y="4572000"/>
            <a:ext cx="22860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126480" y="3657600"/>
            <a:ext cx="274320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217920" y="3749040"/>
            <a:ext cx="82296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11단계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41605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홈 복귀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4663440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WelcomeView로 이동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5010912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cartStore.clear()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5358384"/>
            <a:ext cx="24688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언어 초기화 → 대기 상태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44000" y="3657600"/>
            <a:ext cx="283464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281160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Alternative Flow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41605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7171"/>
                </a:solidFill>
                <a:latin typeface="Malgun Gothic"/>
              </a:defRPr>
            </a:pPr>
            <a:r>
              <a:t>5a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38360" y="4160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오프라인+카드 → 불가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448055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7a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38360" y="448055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VAN 실패 → Failover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4800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Malgun Gothic"/>
              </a:defRPr>
            </a:pPr>
            <a:r>
              <a:t>7b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38360" y="4800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CircuitBreaker OPEN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5120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BD5E1"/>
                </a:solidFill>
                <a:latin typeface="Malgun Gothic"/>
              </a:defRPr>
            </a:pPr>
            <a:r>
              <a:t>7c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38360" y="5120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중복결제 → 기존 반환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326880" y="544067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87171"/>
                </a:solidFill>
                <a:latin typeface="Malgun Gothic"/>
              </a:defRPr>
            </a:pPr>
            <a:r>
              <a:t>8a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38360" y="544067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취소 → 재고 복구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5760720"/>
            <a:ext cx="411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BD5E1"/>
                </a:solidFill>
                <a:latin typeface="Malgun Gothic"/>
              </a:defRPr>
            </a:pPr>
            <a:r>
              <a:rPr dirty="0"/>
              <a:t>10a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738360" y="5760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수동 홈 복귀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상태 머신 &amp; 재고 이동 추적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주문 상태 (Order Status)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566928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137160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184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주문 생성 (재고 미차감)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  ↓  결제 완료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137160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PAID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2585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재고 차감: deductStockForOrder()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  ↓  준비 시작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80360"/>
            <a:ext cx="137160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PREPARING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8986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조리/준비 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  ↓  완료 or 취소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20439"/>
            <a:ext cx="137160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COMPLETED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53872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completedAt 설정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840479"/>
            <a:ext cx="137160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CANCELLED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385876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재고 복구: restoreStockForOrder()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매입 상태 (Purchase Status)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4892040"/>
            <a:ext cx="5669280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200" y="5029200"/>
            <a:ext cx="137160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DRAFT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0474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임시저장 (재고 미변동)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440680"/>
            <a:ext cx="137160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CONFIRMED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5458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DE80"/>
                </a:solidFill>
                <a:latin typeface="Malgun Gothic"/>
              </a:defRPr>
            </a:pPr>
            <a:r>
              <a:t>확정 → stock += qty, PURCHASE_IN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52160"/>
            <a:ext cx="137160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CANCELLED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취소 → stock -= qty, PURCHASE_CANCEL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재고 이동 추적 (StockMovement)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1463040"/>
            <a:ext cx="5669280" cy="4983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1600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1600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1600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트리거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호출 위치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1965960"/>
            <a:ext cx="5486400" cy="4572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2011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Malgun Gothic"/>
              </a:defRPr>
            </a:pPr>
            <a:r>
              <a:t>PURCHASE_IN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0116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매입 확정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purchases.ts POST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2514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Malgun Gothic"/>
              </a:defRPr>
            </a:pPr>
            <a:r>
              <a:t>PURCHASE_CANCEL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2514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2514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매입 취소/수정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purchases.ts DEL/PATCH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2971800"/>
            <a:ext cx="5486400" cy="4572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3017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7171"/>
                </a:solidFill>
                <a:latin typeface="Malgun Gothic"/>
              </a:defRPr>
            </a:pPr>
            <a:r>
              <a:t>SALE_OUT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30175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7171"/>
                </a:solidFill>
                <a:latin typeface="Malgun Gothic"/>
              </a:defRPr>
            </a:pPr>
            <a:r>
              <a:t>-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3017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주문 결제 (PAID)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orders.ts deductStock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520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ADE80"/>
                </a:solidFill>
                <a:latin typeface="Malgun Gothic"/>
              </a:defRPr>
            </a:pPr>
            <a:r>
              <a:t>SALE_CANCEL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3520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DE80"/>
                </a:solidFill>
                <a:latin typeface="Malgun Gothic"/>
              </a:defRPr>
            </a:pPr>
            <a:r>
              <a:t>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520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주문 취소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3520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orders.ts restoreStock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3977640"/>
            <a:ext cx="5486400" cy="4572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0" y="40233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Malgun Gothic"/>
              </a:defRPr>
            </a:pPr>
            <a:r>
              <a:t>ADJUSTMENT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40233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  <a:latin typeface="Malgun Gothic"/>
              </a:defRPr>
            </a:pPr>
            <a:r>
              <a:t>±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4023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재고 수동 조정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20" y="4023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stock-movements.ts adjust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0" y="45262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8BFA"/>
                </a:solidFill>
                <a:latin typeface="Malgun Gothic"/>
              </a:defRPr>
            </a:pPr>
            <a:r>
              <a:t>SYNC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46720" y="45262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Malgun Gothic"/>
              </a:defRPr>
            </a:pPr>
            <a:r>
              <a:t>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4526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재고 동기화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2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purchase-products.ts sync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0" y="5120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BF"/>
                </a:solidFill>
                <a:latin typeface="Malgun Gothic"/>
              </a:defRPr>
            </a:pPr>
            <a:r>
              <a:t>기록 필드: type, quantity(±), stockBefore, stockAfter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54406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추적: purchaseId / orderId / adjustmentCode / reason / createdBy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760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algun Gothic"/>
              </a:defRPr>
            </a:pPr>
            <a:r>
              <a:t>조정 코드: ADJ-YYYYMMDD-NNNN (일괄 조정 그룹)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결제 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Strategy Pattern + CircuitBreaker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463040"/>
            <a:ext cx="56692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303520" cy="45720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PaymentService</a:t>
            </a:r>
          </a:p>
        </p:txBody>
      </p:sp>
      <p:sp>
        <p:nvSpPr>
          <p:cNvPr id="8" name="Down Arrow 7"/>
          <p:cNvSpPr/>
          <p:nvPr/>
        </p:nvSpPr>
        <p:spPr>
          <a:xfrm>
            <a:off x="2926080" y="2103120"/>
            <a:ext cx="274320" cy="274320"/>
          </a:xfrm>
          <a:prstGeom prst="downArrow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1234440" cy="73152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5146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NICE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889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t>Strategy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2468880"/>
            <a:ext cx="1234440" cy="73152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0" y="25146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KICC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889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t>Strategy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960" y="2468880"/>
            <a:ext cx="1234440" cy="73152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54680" y="25146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KIS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7889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t>Strategy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2468880"/>
            <a:ext cx="1234440" cy="73152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251460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SMARTRO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78892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t>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CircuitBreaker 상태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40480"/>
            <a:ext cx="118872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CLOSED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8587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정상 → 요청 통과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251960"/>
            <a:ext cx="118872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OPEN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2702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장애 → 요청 차단, Failover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663440"/>
            <a:ext cx="118872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HALF_OPEN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681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복구 시도 → 제한된 요청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Failover 순서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32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Malgun Gothic"/>
              </a:defRPr>
            </a:pPr>
            <a:r>
              <a:t>Primary: NICE → Backup: KICC → KIS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52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algun Gothic"/>
              </a:defRPr>
            </a:pPr>
            <a:r>
              <a:t>SUCCESS → 반환 / RETRYABLE → 다음 VAN / FAILURE → 에러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안전 장치 &amp; 특징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1463040"/>
            <a:ext cx="566928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00800" y="1645920"/>
            <a:ext cx="228600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멱등성 (Idempotency)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0116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rPr dirty="0" err="1"/>
              <a:t>idempotencyKey로</a:t>
            </a:r>
            <a:r>
              <a:rPr dirty="0"/>
              <a:t> </a:t>
            </a:r>
            <a:r>
              <a:rPr dirty="0" err="1"/>
              <a:t>중복</a:t>
            </a:r>
            <a:r>
              <a:rPr dirty="0"/>
              <a:t> </a:t>
            </a:r>
            <a:r>
              <a:rPr dirty="0" err="1"/>
              <a:t>결제</a:t>
            </a:r>
            <a:r>
              <a:rPr dirty="0"/>
              <a:t> </a:t>
            </a:r>
            <a:r>
              <a:rPr dirty="0" err="1"/>
              <a:t>완벽</a:t>
            </a:r>
            <a:r>
              <a:rPr dirty="0"/>
              <a:t> </a:t>
            </a:r>
            <a:r>
              <a:rPr dirty="0" err="1"/>
              <a:t>방지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6492240" y="226771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동일 키 → 기존 결과 반환 (재처리 없음)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2788920"/>
            <a:ext cx="228600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결제 수단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1546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신용카드: VAN Strategy 패턴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41071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모바일 페이: 카카오페이/네이버페이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66674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현금: 로컬 처리 (거스름돈 계산)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3922776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스캐너: 준비 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931920"/>
            <a:ext cx="228600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오프라인 대응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2976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현금 결제만 가능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55371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카드/모바일 → '오프라인 상태입니다' 경고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80974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주문 로컬 저장 → 온라인 시 동기화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5074920"/>
            <a:ext cx="228600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트랜잭션 보장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44068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주문 생성: 주문번호 race condition 방지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69671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상태 변경: 재고 처리 원자성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952744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Malgun Gothic"/>
              </a:defRPr>
            </a:pPr>
            <a:r>
              <a:t>결제 실패 시: 주문 상태 롤백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ASIS vs TOBE 아키텍처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011680" cy="4114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377440" y="1005840"/>
            <a:ext cx="4572000" cy="41148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040880" y="1005840"/>
            <a:ext cx="4846320" cy="41148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0515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ASIS (VB6)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051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TOBE (Express + Vue 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990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3990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MS-SQL, 월별 동적 테이블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3990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BF"/>
                </a:solidFill>
                <a:latin typeface="Malgun Gothic"/>
              </a:defRPr>
            </a:pPr>
            <a:r>
              <a:t>PostgreSQL + Prisma ORM, 단일 테이블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1737360"/>
            <a:ext cx="11612880" cy="365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64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재고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76479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LastSt_{YYYYMM} 이월재고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7647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BF"/>
                </a:solidFill>
                <a:latin typeface="Malgun Gothic"/>
              </a:defRPr>
            </a:pPr>
            <a:r>
              <a:t>PurchaseProduct.stock + StockMovement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1305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코드 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13055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사용자 수동 입력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1305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BF"/>
                </a:solidFill>
                <a:latin typeface="Malgun Gothic"/>
              </a:defRPr>
            </a:pPr>
            <a:r>
              <a:t>자동 (S001, P날짜-NNN, YYMMDD-NNNN)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2468880"/>
            <a:ext cx="11612880" cy="365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2496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VAN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4963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12사 DLL 직접 호출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2496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BF"/>
                </a:solidFill>
                <a:latin typeface="Malgun Gothic"/>
              </a:defRPr>
            </a:pPr>
            <a:r>
              <a:t>4사 Strategy + CircuitBreaker + Failover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결제 안전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286207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N/A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2862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BF"/>
                </a:solidFill>
                <a:latin typeface="Malgun Gothic"/>
              </a:defRPr>
            </a:pPr>
            <a:r>
              <a:t>idempotencyKey 멱등성 보장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3200400"/>
            <a:ext cx="11612880" cy="365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227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모드 전환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2278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C_Config.Self_YN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2278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BF"/>
                </a:solidFill>
                <a:latin typeface="Malgun Gothic"/>
              </a:defRPr>
            </a:pPr>
            <a:r>
              <a:t>Device 모델 (POS/KIOSK/KITCHEN)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5935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다국어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359359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N/A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5935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BF"/>
                </a:solidFill>
                <a:latin typeface="Malgun Gothic"/>
              </a:defRPr>
            </a:pPr>
            <a:r>
              <a:t>4개 언어 (ko/en/ja/zh) DB + i18n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3931920"/>
            <a:ext cx="11612880" cy="365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3959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캐시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395935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N/A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3959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BF"/>
                </a:solidFill>
                <a:latin typeface="Malgun Gothic"/>
              </a:defRPr>
            </a:pPr>
            <a:r>
              <a:t>Redis 5분 TTL + CUD 무효화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3251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오프라인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43251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Access MDB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43251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BF"/>
                </a:solidFill>
                <a:latin typeface="Malgun Gothic"/>
              </a:defRPr>
            </a:pPr>
            <a:r>
              <a:t>IndexedDB + SyncManager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4663440"/>
            <a:ext cx="11612880" cy="365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4690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트랜잭션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469087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ADO 수동 관리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4690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BF"/>
                </a:solidFill>
                <a:latin typeface="Malgun Gothic"/>
              </a:defRPr>
            </a:pPr>
            <a:r>
              <a:t>Prisma $transaction() 자동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0566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상태 추적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0" y="50566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단순 플래그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5056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BF"/>
                </a:solidFill>
                <a:latin typeface="Malgun Gothic"/>
              </a:defRPr>
            </a:pPr>
            <a:r>
              <a:t>상태 머신 (5단계 주문, 3단계 매입)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5394960"/>
            <a:ext cx="11612880" cy="365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5422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재고 추적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60320" y="542239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단순 증감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54223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BF"/>
                </a:solidFill>
                <a:latin typeface="Malgun Gothic"/>
              </a:defRPr>
            </a:pPr>
            <a:r>
              <a:t>StockMovement 6타입 (감사 추적)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788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인증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0320" y="578815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Admin_Gubun 레벨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57881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BF"/>
                </a:solidFill>
                <a:latin typeface="Malgun Gothic"/>
              </a:defRPr>
            </a:pPr>
            <a:r>
              <a:t>JWT + 역할 (4단계 RBAC)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4320" y="6126480"/>
            <a:ext cx="11612880" cy="36576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6153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Malgun Gothic"/>
              </a:defRPr>
            </a:pPr>
            <a:r>
              <a:t>설정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60320" y="615391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7171"/>
                </a:solidFill>
                <a:latin typeface="Malgun Gothic"/>
              </a:defRPr>
            </a:pPr>
            <a:r>
              <a:t>INI + DB POS_Set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23760" y="61539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D4BF"/>
                </a:solidFill>
                <a:latin typeface="Malgun Gothic"/>
              </a:defRPr>
            </a:pPr>
            <a:r>
              <a:t>2계층: SystemSetting + DeviceSetting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t>통합 시나리오: Purchase-to-Sale 완전한 8단계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1097280"/>
            <a:ext cx="274320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3657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거래처 등록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45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POST /suppliers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→ S001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926080" y="2194560"/>
            <a:ext cx="22860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154680" y="1097280"/>
            <a:ext cx="274320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246120" y="1188720"/>
            <a:ext cx="36576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1188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매입상품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645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POST /purchase-products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→ stock=0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97880" y="2194560"/>
            <a:ext cx="228600" cy="27432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26480" y="1097280"/>
            <a:ext cx="274320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17920" y="1188720"/>
            <a:ext cx="36576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188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매입 주문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645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POST /purchases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Malgun Gothic"/>
              </a:defRPr>
            </a:pPr>
            <a:r>
              <a:t>[트랜잭션]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2377440"/>
            <a:ext cx="91440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stock +50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69680" y="2194560"/>
            <a:ext cx="228600" cy="274320"/>
          </a:xfrm>
          <a:prstGeom prst="rightArrow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098280" y="1097280"/>
            <a:ext cx="274320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89720" y="1188720"/>
            <a:ext cx="365760" cy="32004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11887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상품 등록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1645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POST /products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19659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→ M:N Category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" y="4023360"/>
            <a:ext cx="274320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74320" y="4114800"/>
            <a:ext cx="36576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14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키오스크 주문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POST /orders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4892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→ PENDING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2926080" y="5120640"/>
            <a:ext cx="228600" cy="274320"/>
          </a:xfrm>
          <a:prstGeom prst="rightArrow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154680" y="4023360"/>
            <a:ext cx="274320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246120" y="4114800"/>
            <a:ext cx="365760" cy="32004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4114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결제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POST /payments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91840" y="4892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→ APPROVED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5897880" y="5120640"/>
            <a:ext cx="228600" cy="274320"/>
          </a:xfrm>
          <a:prstGeom prst="rightArrow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126480" y="4023360"/>
            <a:ext cx="274320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217920" y="4114800"/>
            <a:ext cx="365760" cy="32004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114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상태 PAID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8BDF8"/>
                </a:solidFill>
                <a:latin typeface="Malgun Gothic"/>
              </a:defRPr>
            </a:pPr>
            <a:r>
              <a:t>PATCH /orders/status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4892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BBF24"/>
                </a:solidFill>
                <a:latin typeface="Malgun Gothic"/>
              </a:defRPr>
            </a:pPr>
            <a:r>
              <a:t>[트랜잭션]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303520"/>
            <a:ext cx="914400" cy="32004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stock -3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8869680" y="5120640"/>
            <a:ext cx="228600" cy="274320"/>
          </a:xfrm>
          <a:prstGeom prst="rightArrow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098280" y="4023360"/>
            <a:ext cx="274320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9189720" y="4114800"/>
            <a:ext cx="3657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4114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완료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35440" y="45720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COMPLETED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35440" y="4892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Malgun Gothic"/>
              </a:defRPr>
            </a:pPr>
            <a:r>
              <a:t>30초 → 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60302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Malgun Gothic"/>
              </a:defRPr>
            </a:pPr>
            <a:r>
              <a:t>최종 결과: 거래처(S001) → 매입상품(stock:0→50) → 판매(stock:50→47) | StockMovement: PURCHASE_IN(+50), SALE_OUT(-3)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1483</Words>
  <Application>Microsoft Office PowerPoint</Application>
  <PresentationFormat>와이드스크린</PresentationFormat>
  <Paragraphs>426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Malgun Gothic</vt:lpstr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bysub</cp:lastModifiedBy>
  <cp:revision>3</cp:revision>
  <dcterms:created xsi:type="dcterms:W3CDTF">2013-01-27T09:14:16Z</dcterms:created>
  <dcterms:modified xsi:type="dcterms:W3CDTF">2026-02-19T03:52:27Z</dcterms:modified>
  <cp:category/>
</cp:coreProperties>
</file>