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비즈니스</a:t>
            </a:r>
            <a:r>
              <a:rPr dirty="0"/>
              <a:t> </a:t>
            </a:r>
            <a:r>
              <a:rPr dirty="0" err="1"/>
              <a:t>사이클</a:t>
            </a:r>
            <a:r>
              <a:rPr dirty="0"/>
              <a:t> (TOBE)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" y="1261872"/>
            <a:ext cx="4114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거래처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Supplier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SuppliersView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3212" y="1965960"/>
            <a:ext cx="13716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0372" y="1188720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96092" y="1261872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1812" y="164592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dirty="0" err="1" smtClean="0"/>
              <a:t>매입상품</a:t>
            </a:r>
            <a:r>
              <a:rPr lang="ko-KR" altLang="en-US" dirty="0" smtClean="0"/>
              <a:t>등록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741812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rPr dirty="0" err="1"/>
              <a:t>PurchaseProduct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741812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카탈로그+재고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45225" y="1965960"/>
            <a:ext cx="13716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82385" y="1188720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28105" y="1261872"/>
            <a:ext cx="4114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3825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매입 주문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825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rPr dirty="0"/>
              <a:t>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3825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트랜잭션+StockMovement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93666" y="3916435"/>
            <a:ext cx="13716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0826" y="3139195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6546" y="3212347"/>
            <a:ext cx="411480" cy="3200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266" y="359639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상품 등록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266" y="40535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266" y="437363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다국어+M:N Category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770400" y="3916435"/>
            <a:ext cx="1371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907560" y="3139195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953280" y="3212347"/>
            <a:ext cx="4114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000" y="359639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판매/주문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9000" y="40535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000" y="437363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Kiosk MenuView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219422" y="3916435"/>
            <a:ext cx="13716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356582" y="3139195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02302" y="3212347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8022" y="359639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결제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8022" y="40535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PaymentService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8022" y="437363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Strategy+Failover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696154" y="3916435"/>
            <a:ext cx="137160" cy="27432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833314" y="3139195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879034" y="3212347"/>
            <a:ext cx="4114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4754" y="359639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4754" y="40535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CompleteView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4754" y="437363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30초 자동 복귀</a:t>
            </a:r>
          </a:p>
        </p:txBody>
      </p:sp>
      <p:sp>
        <p:nvSpPr>
          <p:cNvPr id="82" name="Rounded Rectangle 9"/>
          <p:cNvSpPr/>
          <p:nvPr/>
        </p:nvSpPr>
        <p:spPr>
          <a:xfrm>
            <a:off x="5102633" y="1184101"/>
            <a:ext cx="2275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10"/>
          <p:cNvSpPr/>
          <p:nvPr/>
        </p:nvSpPr>
        <p:spPr>
          <a:xfrm>
            <a:off x="5148352" y="1257253"/>
            <a:ext cx="665429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 smtClean="0"/>
              <a:t>02</a:t>
            </a:r>
            <a:r>
              <a:rPr lang="en-US" dirty="0" smtClean="0"/>
              <a:t>.1</a:t>
            </a:r>
            <a:endParaRPr dirty="0"/>
          </a:p>
        </p:txBody>
      </p:sp>
      <p:sp>
        <p:nvSpPr>
          <p:cNvPr id="84" name="TextBox 83"/>
          <p:cNvSpPr txBox="1"/>
          <p:nvPr/>
        </p:nvSpPr>
        <p:spPr>
          <a:xfrm>
            <a:off x="5194073" y="1641301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>
                <a:solidFill>
                  <a:srgbClr val="FFFF00"/>
                </a:solidFill>
              </a:rPr>
              <a:t>★</a:t>
            </a:r>
            <a:r>
              <a:rPr lang="ko-KR" altLang="en-US" dirty="0" smtClean="0"/>
              <a:t>발주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ko-KR" altLang="en-US" dirty="0" smtClean="0">
                <a:solidFill>
                  <a:srgbClr val="FFFF00"/>
                </a:solidFill>
              </a:rPr>
              <a:t>★선택사항</a:t>
            </a:r>
            <a:endParaRPr dirty="0"/>
          </a:p>
        </p:txBody>
      </p:sp>
      <p:sp>
        <p:nvSpPr>
          <p:cNvPr id="87" name="Right Arrow 8"/>
          <p:cNvSpPr/>
          <p:nvPr/>
        </p:nvSpPr>
        <p:spPr>
          <a:xfrm>
            <a:off x="4956237" y="1961347"/>
            <a:ext cx="13716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277205" y="2181628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거래처별 가격</a:t>
            </a:r>
            <a:endParaRPr dirty="0"/>
          </a:p>
        </p:txBody>
      </p:sp>
      <p:sp>
        <p:nvSpPr>
          <p:cNvPr id="89" name="TextBox 88"/>
          <p:cNvSpPr txBox="1"/>
          <p:nvPr/>
        </p:nvSpPr>
        <p:spPr>
          <a:xfrm>
            <a:off x="5277199" y="2375589"/>
            <a:ext cx="1936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거래처별 외부인터페이스</a:t>
            </a:r>
            <a:endParaRPr dirty="0"/>
          </a:p>
        </p:txBody>
      </p:sp>
      <p:sp>
        <p:nvSpPr>
          <p:cNvPr id="90" name="TextBox 89"/>
          <p:cNvSpPr txBox="1"/>
          <p:nvPr/>
        </p:nvSpPr>
        <p:spPr>
          <a:xfrm>
            <a:off x="133005" y="513727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/>
              <a:t>사이클 추가 </a:t>
            </a:r>
            <a:endParaRPr dirty="0"/>
          </a:p>
        </p:txBody>
      </p:sp>
      <p:sp>
        <p:nvSpPr>
          <p:cNvPr id="91" name="TextBox 90"/>
          <p:cNvSpPr txBox="1"/>
          <p:nvPr/>
        </p:nvSpPr>
        <p:spPr>
          <a:xfrm>
            <a:off x="289096" y="5506262"/>
            <a:ext cx="1103468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rPr lang="ko-KR" altLang="en-US" dirty="0" smtClean="0"/>
              <a:t>기본 </a:t>
            </a:r>
            <a:r>
              <a:rPr lang="en-US" altLang="ko-KR" dirty="0" smtClean="0"/>
              <a:t>ASIS</a:t>
            </a:r>
            <a:r>
              <a:rPr lang="ko-KR" altLang="en-US" dirty="0" smtClean="0"/>
              <a:t>에서 상품등록 와 매입이 동시에 처리하기 때문에 </a:t>
            </a:r>
            <a:r>
              <a:rPr lang="ko-KR" altLang="en-US" dirty="0" err="1" smtClean="0"/>
              <a:t>매입때마다</a:t>
            </a:r>
            <a:r>
              <a:rPr lang="ko-KR" altLang="en-US" dirty="0" smtClean="0"/>
              <a:t> 상품 바코드를 계속 생성하거나 거래처를 </a:t>
            </a:r>
            <a:r>
              <a:rPr lang="ko-KR" altLang="en-US" dirty="0" err="1" smtClean="0"/>
              <a:t>수정한듯</a:t>
            </a:r>
            <a:r>
              <a:rPr lang="ko-KR" altLang="en-US" dirty="0" smtClean="0"/>
              <a:t> 합니다</a:t>
            </a:r>
            <a:r>
              <a:rPr lang="en-US" altLang="ko-KR" dirty="0" smtClean="0"/>
              <a:t>. </a:t>
            </a:r>
          </a:p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rPr lang="ko-KR" altLang="en-US" dirty="0" smtClean="0"/>
              <a:t>이렇게 등록할 경우 관리가 어려운듯하여 상품과 거래처는 별도로 분리처리하고 </a:t>
            </a:r>
            <a:r>
              <a:rPr lang="en-US" altLang="ko-KR" dirty="0" smtClean="0"/>
              <a:t>ASIS</a:t>
            </a:r>
            <a:r>
              <a:rPr lang="ko-KR" altLang="en-US" dirty="0" smtClean="0"/>
              <a:t>에서 상품별 </a:t>
            </a:r>
            <a:r>
              <a:rPr lang="ko-KR" altLang="en-US" dirty="0" err="1" smtClean="0"/>
              <a:t>가격비교하는</a:t>
            </a:r>
            <a:r>
              <a:rPr lang="ko-KR" altLang="en-US" dirty="0" smtClean="0"/>
              <a:t> 부분을 발주부분으로 </a:t>
            </a:r>
            <a:r>
              <a:rPr lang="ko-KR" altLang="en-US" dirty="0" err="1" smtClean="0"/>
              <a:t>분기처리하는게</a:t>
            </a:r>
            <a:r>
              <a:rPr lang="ko-KR" altLang="en-US" dirty="0" smtClean="0"/>
              <a:t> 어떤지 확인이 필요합니다</a:t>
            </a:r>
            <a:r>
              <a:rPr lang="en-US" altLang="ko-KR" dirty="0" smtClean="0"/>
              <a:t>.</a:t>
            </a:r>
          </a:p>
          <a:p>
            <a:pPr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rPr lang="ko-KR" altLang="en-US" dirty="0" smtClean="0"/>
              <a:t>그리고 가격 비교 같은 경우 </a:t>
            </a:r>
            <a:r>
              <a:rPr lang="ko-KR" altLang="en-US" dirty="0"/>
              <a:t>중앙에서 </a:t>
            </a:r>
            <a:r>
              <a:rPr lang="ko-KR" altLang="en-US" dirty="0" err="1" smtClean="0"/>
              <a:t>어떤식으로</a:t>
            </a:r>
            <a:r>
              <a:rPr lang="ko-KR" altLang="en-US" dirty="0" smtClean="0"/>
              <a:t> 관리하실지 확인이 필요합니다</a:t>
            </a:r>
            <a:r>
              <a:rPr lang="en-US" altLang="ko-KR" dirty="0" smtClean="0"/>
              <a:t>. ( ex. DB </a:t>
            </a:r>
            <a:r>
              <a:rPr lang="ko-KR" altLang="en-US" dirty="0" smtClean="0"/>
              <a:t>구조 및 가격 비교 시점</a:t>
            </a:r>
            <a:r>
              <a:rPr lang="en-US" altLang="ko-KR" dirty="0" smtClean="0"/>
              <a:t>( </a:t>
            </a:r>
            <a:r>
              <a:rPr lang="ko-KR" altLang="en-US" dirty="0" smtClean="0"/>
              <a:t>발주 </a:t>
            </a:r>
            <a:r>
              <a:rPr lang="en-US" altLang="ko-KR" dirty="0" smtClean="0"/>
              <a:t>OR</a:t>
            </a:r>
            <a:r>
              <a:rPr lang="ko-KR" altLang="en-US" dirty="0" smtClean="0"/>
              <a:t> 매입 시점 </a:t>
            </a:r>
            <a:r>
              <a:rPr lang="en-US" altLang="ko-KR" dirty="0" smtClean="0"/>
              <a:t>) ) </a:t>
            </a:r>
          </a:p>
          <a:p>
            <a:pPr>
              <a:defRPr sz="1100" b="0">
                <a:solidFill>
                  <a:srgbClr val="CBD5E1"/>
                </a:solidFill>
                <a:latin typeface="Malgun Gothic"/>
              </a:defRPr>
            </a:pPr>
            <a:endParaRPr dirty="0"/>
          </a:p>
        </p:txBody>
      </p:sp>
      <p:sp>
        <p:nvSpPr>
          <p:cNvPr id="92" name="TextBox 91"/>
          <p:cNvSpPr txBox="1"/>
          <p:nvPr/>
        </p:nvSpPr>
        <p:spPr>
          <a:xfrm>
            <a:off x="5281816" y="2564933"/>
            <a:ext cx="1936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rPr lang="en-US" altLang="ko-KR" dirty="0"/>
              <a:t>Purchase </a:t>
            </a:r>
            <a:r>
              <a:rPr lang="ko-KR" altLang="en-US" dirty="0" smtClean="0"/>
              <a:t>계획정보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/>
              <a:t>사이클 분기 </a:t>
            </a:r>
            <a:r>
              <a:rPr lang="en-US" altLang="ko-KR" dirty="0" smtClean="0"/>
              <a:t>( </a:t>
            </a:r>
            <a:r>
              <a:rPr lang="ko-KR" altLang="en-US" dirty="0" smtClean="0"/>
              <a:t>기존 상품등록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거래처</a:t>
            </a:r>
            <a:r>
              <a:rPr lang="en-US" altLang="ko-KR" dirty="0" smtClean="0"/>
              <a:t>,</a:t>
            </a:r>
            <a:r>
              <a:rPr lang="ko-KR" altLang="en-US" dirty="0" smtClean="0"/>
              <a:t>상품</a:t>
            </a:r>
            <a:r>
              <a:rPr lang="en-US" altLang="ko-KR" dirty="0" smtClean="0"/>
              <a:t>,</a:t>
            </a:r>
            <a:r>
              <a:rPr lang="ko-KR" altLang="en-US" dirty="0" smtClean="0"/>
              <a:t>발주</a:t>
            </a:r>
            <a:r>
              <a:rPr lang="en-US" altLang="ko-KR" dirty="0" smtClean="0"/>
              <a:t>,</a:t>
            </a:r>
            <a:r>
              <a:rPr lang="ko-KR" altLang="en-US" dirty="0" smtClean="0"/>
              <a:t>매입</a:t>
            </a:r>
            <a:r>
              <a:rPr lang="en-US" altLang="ko-KR" dirty="0" smtClean="0"/>
              <a:t>)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/>
              <a:t>장점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57200" y="1643152"/>
            <a:ext cx="10972800" cy="1965681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79" y="1707161"/>
            <a:ext cx="1066522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발주주문 기능추가 </a:t>
            </a:r>
            <a:endParaRPr lang="en-US" altLang="ko-KR" dirty="0" smtClean="0"/>
          </a:p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en-US" dirty="0" smtClean="0"/>
              <a:t>  1.1. </a:t>
            </a:r>
            <a:r>
              <a:rPr lang="ko-KR" altLang="en-US" dirty="0" smtClean="0"/>
              <a:t>거래처 주문에 대한 외부 인터페이스</a:t>
            </a:r>
            <a:endParaRPr lang="en-US" altLang="ko-KR" dirty="0" smtClean="0"/>
          </a:p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en-US" altLang="ko-KR" dirty="0"/>
              <a:t> </a:t>
            </a:r>
            <a:r>
              <a:rPr lang="en-US" altLang="ko-KR" dirty="0" smtClean="0"/>
              <a:t> 1.2. </a:t>
            </a:r>
            <a:r>
              <a:rPr lang="ko-KR" altLang="en-US" dirty="0" smtClean="0"/>
              <a:t>거래철 주문 </a:t>
            </a:r>
            <a:r>
              <a:rPr lang="ko-KR" altLang="en-US" dirty="0" err="1" smtClean="0"/>
              <a:t>카톡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문자로 주문</a:t>
            </a:r>
            <a:endParaRPr lang="en-US" altLang="ko-KR" dirty="0" smtClean="0"/>
          </a:p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en-US" altLang="ko-KR" dirty="0"/>
              <a:t> </a:t>
            </a:r>
            <a:r>
              <a:rPr lang="en-US" altLang="ko-KR" dirty="0" smtClean="0"/>
              <a:t> 1.3. </a:t>
            </a:r>
            <a:r>
              <a:rPr lang="ko-KR" altLang="en-US" dirty="0" smtClean="0"/>
              <a:t>발주서 같은 문서로 거래처 주문 처리</a:t>
            </a:r>
            <a:endParaRPr lang="en-US" altLang="ko-KR" dirty="0" smtClean="0"/>
          </a:p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en-US" dirty="0" smtClean="0"/>
              <a:t>2. </a:t>
            </a:r>
            <a:r>
              <a:rPr lang="ko-KR" altLang="en-US" dirty="0" smtClean="0"/>
              <a:t>가격 비교</a:t>
            </a:r>
            <a:endParaRPr lang="en-US" altLang="ko-KR" dirty="0" smtClean="0"/>
          </a:p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en-US" altLang="ko-KR" dirty="0"/>
              <a:t> </a:t>
            </a:r>
            <a:r>
              <a:rPr lang="en-US" altLang="ko-KR" dirty="0" smtClean="0"/>
              <a:t> 2.1. </a:t>
            </a:r>
            <a:r>
              <a:rPr lang="ko-KR" altLang="en-US" dirty="0" smtClean="0"/>
              <a:t>기존에는 각 거래처의 </a:t>
            </a:r>
            <a:r>
              <a:rPr lang="ko-KR" altLang="en-US" dirty="0" err="1" smtClean="0"/>
              <a:t>매입아력을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보여주었는</a:t>
            </a:r>
            <a:r>
              <a:rPr lang="ko-KR" altLang="en-US" dirty="0" smtClean="0"/>
              <a:t> 내용을 중앙에서 가격에 대한 변동사항 처리</a:t>
            </a:r>
            <a:endParaRPr lang="en-US" altLang="ko-KR" dirty="0" smtClean="0"/>
          </a:p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en-US" dirty="0" smtClean="0"/>
              <a:t>3. </a:t>
            </a:r>
            <a:r>
              <a:rPr lang="ko-KR" altLang="en-US" dirty="0" smtClean="0"/>
              <a:t>동일 주문에 대한 시기별</a:t>
            </a:r>
            <a:r>
              <a:rPr lang="en-US" altLang="ko-KR" dirty="0" smtClean="0"/>
              <a:t>(</a:t>
            </a:r>
            <a:r>
              <a:rPr lang="ko-KR" altLang="en-US" dirty="0" smtClean="0"/>
              <a:t>일별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주별</a:t>
            </a:r>
            <a:r>
              <a:rPr lang="en-US" altLang="ko-KR" dirty="0" smtClean="0"/>
              <a:t>,</a:t>
            </a:r>
            <a:r>
              <a:rPr lang="ko-KR" altLang="en-US" dirty="0" smtClean="0"/>
              <a:t>월별</a:t>
            </a:r>
            <a:r>
              <a:rPr lang="en-US" altLang="ko-KR" dirty="0" smtClean="0"/>
              <a:t>)</a:t>
            </a:r>
            <a:r>
              <a:rPr lang="ko-KR" altLang="en-US" dirty="0" smtClean="0"/>
              <a:t> 주문 처리 기능 추가 </a:t>
            </a:r>
            <a:endParaRPr dirty="0"/>
          </a:p>
        </p:txBody>
      </p:sp>
      <p:sp>
        <p:nvSpPr>
          <p:cNvPr id="52" name="Rounded Rectangle 3"/>
          <p:cNvSpPr/>
          <p:nvPr/>
        </p:nvSpPr>
        <p:spPr>
          <a:xfrm>
            <a:off x="461819" y="3725027"/>
            <a:ext cx="256032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99" y="3789035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단</a:t>
            </a:r>
            <a:r>
              <a:rPr lang="ko-KR" altLang="en-US" dirty="0" smtClean="0"/>
              <a:t>점</a:t>
            </a:r>
            <a:endParaRPr dirty="0"/>
          </a:p>
        </p:txBody>
      </p:sp>
      <p:sp>
        <p:nvSpPr>
          <p:cNvPr id="54" name="Rounded Rectangle 12"/>
          <p:cNvSpPr/>
          <p:nvPr/>
        </p:nvSpPr>
        <p:spPr>
          <a:xfrm>
            <a:off x="489531" y="4298608"/>
            <a:ext cx="10972800" cy="1965681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4697" y="4408796"/>
            <a:ext cx="106652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작업이 늘어 나기 때문에 번거로움</a:t>
            </a:r>
            <a:endParaRPr lang="en-US" altLang="ko-KR" dirty="0" smtClean="0"/>
          </a:p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자동상품 처리가 어려움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2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/>
              <a:t>환경설정 옵션에 대한 정리 필요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/>
              <a:t>공통환경설정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57200" y="1643152"/>
            <a:ext cx="10972800" cy="1965681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79" y="1707161"/>
            <a:ext cx="106652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중앙에서 관리하는 환경설정 정보정리 </a:t>
            </a:r>
            <a:r>
              <a:rPr lang="en-US" altLang="ko-KR" dirty="0" smtClean="0"/>
              <a:t>( ex. </a:t>
            </a:r>
            <a:r>
              <a:rPr lang="ko-KR" altLang="en-US" dirty="0" smtClean="0"/>
              <a:t>메뉴제어</a:t>
            </a:r>
            <a:r>
              <a:rPr lang="en-US" altLang="ko-KR" dirty="0" smtClean="0"/>
              <a:t>,KIOSK </a:t>
            </a:r>
            <a:r>
              <a:rPr lang="ko-KR" altLang="en-US" dirty="0" smtClean="0"/>
              <a:t>사용여부</a:t>
            </a:r>
            <a:r>
              <a:rPr lang="en-US" altLang="ko-KR" dirty="0" smtClean="0"/>
              <a:t>,POS </a:t>
            </a:r>
            <a:r>
              <a:rPr lang="ko-KR" altLang="en-US" dirty="0" smtClean="0"/>
              <a:t>사용여부</a:t>
            </a:r>
            <a:r>
              <a:rPr lang="en-US" altLang="ko-KR" dirty="0" smtClean="0"/>
              <a:t>,</a:t>
            </a:r>
            <a:r>
              <a:rPr lang="ko-KR" altLang="en-US" dirty="0" smtClean="0"/>
              <a:t>주방주문여부</a:t>
            </a:r>
            <a:r>
              <a:rPr lang="en-US" altLang="ko-KR" dirty="0" smtClean="0"/>
              <a:t>,</a:t>
            </a:r>
            <a:r>
              <a:rPr lang="ko-KR" altLang="en-US" dirty="0" smtClean="0"/>
              <a:t>테이블 </a:t>
            </a:r>
            <a:r>
              <a:rPr lang="ko-KR" altLang="en-US" dirty="0" err="1" smtClean="0"/>
              <a:t>선택여부등</a:t>
            </a:r>
            <a:r>
              <a:rPr lang="en-US" altLang="ko-KR" dirty="0" smtClean="0"/>
              <a:t>)</a:t>
            </a:r>
          </a:p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각각의 매장 공통 환경 설정 정보 정리 </a:t>
            </a:r>
            <a:r>
              <a:rPr lang="en-US" altLang="ko-KR" dirty="0" smtClean="0"/>
              <a:t>( ex. </a:t>
            </a:r>
            <a:r>
              <a:rPr lang="ko-KR" altLang="en-US" dirty="0" smtClean="0"/>
              <a:t>포인트 비율 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각각의 </a:t>
            </a:r>
            <a:r>
              <a:rPr lang="ko-KR" altLang="en-US" dirty="0" err="1" smtClean="0"/>
              <a:t>메장별</a:t>
            </a:r>
            <a:r>
              <a:rPr lang="ko-KR" altLang="en-US" dirty="0" smtClean="0"/>
              <a:t> 바코드 자동부여숫자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중량상품 등 </a:t>
            </a:r>
            <a:r>
              <a:rPr lang="en-US" altLang="ko-KR" dirty="0" smtClean="0"/>
              <a:t>)</a:t>
            </a:r>
          </a:p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endParaRPr dirty="0"/>
          </a:p>
        </p:txBody>
      </p:sp>
      <p:sp>
        <p:nvSpPr>
          <p:cNvPr id="52" name="Rounded Rectangle 3"/>
          <p:cNvSpPr/>
          <p:nvPr/>
        </p:nvSpPr>
        <p:spPr>
          <a:xfrm>
            <a:off x="461819" y="3725027"/>
            <a:ext cx="256032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99" y="3789035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err="1" smtClean="0"/>
              <a:t>기기별</a:t>
            </a:r>
            <a:r>
              <a:rPr lang="ko-KR" altLang="en-US" dirty="0" smtClean="0"/>
              <a:t> 환경설정</a:t>
            </a:r>
            <a:endParaRPr dirty="0"/>
          </a:p>
        </p:txBody>
      </p:sp>
      <p:sp>
        <p:nvSpPr>
          <p:cNvPr id="54" name="Rounded Rectangle 12"/>
          <p:cNvSpPr/>
          <p:nvPr/>
        </p:nvSpPr>
        <p:spPr>
          <a:xfrm>
            <a:off x="489531" y="4298608"/>
            <a:ext cx="10972800" cy="1965681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460" y="4436508"/>
            <a:ext cx="106652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중앙에서 관리하는 환경설정 정보정리 </a:t>
            </a:r>
            <a:r>
              <a:rPr lang="en-US" altLang="ko-KR" dirty="0" smtClean="0"/>
              <a:t>( ex. </a:t>
            </a:r>
            <a:r>
              <a:rPr lang="ko-KR" altLang="en-US" dirty="0" smtClean="0"/>
              <a:t>기기유형 및 각 기기의 </a:t>
            </a:r>
            <a:r>
              <a:rPr lang="ko-KR" altLang="en-US" dirty="0" err="1" smtClean="0"/>
              <a:t>환경설정정보등</a:t>
            </a:r>
            <a:r>
              <a:rPr lang="en-US" altLang="ko-KR" dirty="0" smtClean="0"/>
              <a:t>)</a:t>
            </a:r>
          </a:p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rPr lang="ko-KR" altLang="en-US" dirty="0" smtClean="0"/>
              <a:t>각각의 기기의 환경 설정 정보 정리 </a:t>
            </a:r>
            <a:r>
              <a:rPr lang="en-US" altLang="ko-KR" dirty="0" smtClean="0"/>
              <a:t>( ex. </a:t>
            </a:r>
            <a:r>
              <a:rPr lang="ko-KR" altLang="en-US" dirty="0" smtClean="0"/>
              <a:t>카드결제 </a:t>
            </a:r>
            <a:r>
              <a:rPr lang="en-US" altLang="ko-KR" dirty="0" smtClean="0"/>
              <a:t>VAN</a:t>
            </a:r>
            <a:r>
              <a:rPr lang="ko-KR" altLang="en-US" dirty="0" smtClean="0"/>
              <a:t>정보</a:t>
            </a:r>
            <a:r>
              <a:rPr lang="en-US" altLang="ko-KR" dirty="0" smtClean="0"/>
              <a:t>,</a:t>
            </a:r>
            <a:r>
              <a:rPr lang="ko-KR" altLang="en-US" dirty="0" smtClean="0"/>
              <a:t>프린터</a:t>
            </a:r>
            <a:r>
              <a:rPr lang="en-US" altLang="ko-KR" dirty="0" smtClean="0"/>
              <a:t>,</a:t>
            </a:r>
            <a:r>
              <a:rPr lang="ko-KR" altLang="en-US" dirty="0" smtClean="0"/>
              <a:t>스캐너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현금함등</a:t>
            </a:r>
            <a:r>
              <a:rPr lang="en-US" altLang="ko-KR" dirty="0" smtClean="0"/>
              <a:t>)</a:t>
            </a:r>
          </a:p>
          <a:p>
            <a:pPr marL="228600" indent="-228600" algn="l">
              <a:buAutoNum type="arabicPeriod"/>
              <a:defRPr sz="1100" b="1">
                <a:solidFill>
                  <a:srgbClr val="94A3B8"/>
                </a:solidFill>
                <a:latin typeface="Malgun Gothic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737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POSON POS - ASIS VB6 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INI vs DB 설정 분류 전체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Malgun Gothic"/>
              </a:defRPr>
            </a:pPr>
            <a:r>
              <a:t>pos_config.ini  |  config.ini  |  DB: POS_Set[101]  |  DB: Office_User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Malgun Gothic"/>
              </a:defRPr>
            </a:pPr>
            <a:r>
              <a:t>~446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INI (POS 런타임)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Malgun Gothic"/>
              </a:defRPr>
            </a:pPr>
            <a:r>
              <a:t>~350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INI (관리프로그램)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Malgun Gothic"/>
              </a:defRPr>
            </a:pPr>
            <a:r>
              <a:t>~78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DB POS_Set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Malgun Gothic"/>
              </a:defRPr>
            </a:pPr>
            <a:r>
              <a:t>~24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DB Office_User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POS 런타임 합계: 548항목  |  전체(관리프로그램 포함): ~900항목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2026-02-19  |  VB6 ASIS 설정 분석</a:t>
            </a:r>
          </a:p>
        </p:txBody>
      </p:sp>
    </p:spTree>
    <p:extLst>
      <p:ext uri="{BB962C8B-B14F-4D97-AF65-F5344CB8AC3E}">
        <p14:creationId xmlns:p14="http://schemas.microsoft.com/office/powerpoint/2010/main" val="96843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ASIS 설정 저장소 4대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VB6 Type: C_Config(300+), Terminal(50+), S_Config(130+), Shop(40+), VAN(20+)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6692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91440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INI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pos_config.ini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 런타임 설정 / 로컬파일 / 75섹션, 516+키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[Application]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애플리케이션 정보 (5키)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[Sale]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운영 설정 (10키)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8541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[Receipt]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8541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영수증 정보 (9키)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4086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[DataBase]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4086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DB 연결 정보 (6키)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9631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[Terminal]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49631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터미널 HW 설정 (42키)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5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[Other]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5175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업무 설정 (75키)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0720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[Card]+VAN 13개사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0720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VAN 결제 설정 (65+키)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6265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[Self]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6265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셀프키오스크 전용 (73키)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1810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[FaceCam/JaPan/Selfimg/Self21]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11810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기타 기기 전용 (20키)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7355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[Dual_Msg/POSON2/Color/Font]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7355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UI/색상/폰트 (32키)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289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[Grid_*] 20+섹션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42899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그리드 컬럼폭 VB6전용 (~100키)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143000"/>
            <a:ext cx="56692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0" y="1234440"/>
            <a:ext cx="91440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INI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config.ini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PosManager 전용 / 관리프로그램 / 85+섹션, 1317줄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87451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[Application]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187451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관리프로그램 기본설정 (76키)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02996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[Server]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02996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DB 서버 + 원격서버 (15키)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18541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[Version_Info]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18541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버전 정보 (7키)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34086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[BarCodePrint]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34086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프린터 공통 (43키)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49631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[TTP/SRP/LK-B/LK-P/G5]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49631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모델별 좌표 (200+키)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65175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[HT_Trans]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65175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데이터 전송 (7키)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80720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[WEBSMS_Sett]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280720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웹 SMS 설정 (8키)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96265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[Customer]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96265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CDP 포트 (4키)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11810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[Length]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11810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바코드/저울 길이 (2키)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7355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[SuSu]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27355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수수료율 설정 (5키)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4289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[기타 10+섹션]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342899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화면별 옵션 (50+키)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3840480"/>
            <a:ext cx="566928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57200" y="3931920"/>
            <a:ext cx="109728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SERVER 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459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POS_Set[101] - S_Config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서버 동기화 업무규칙 / 쉼표구분 78+값 / S_Config_Call()로 로딩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617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출력/인쇄 관련 (12)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[0]Group_Print, [3]PrintLine, [15]Print_Barcode...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892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판매/업무 규칙 (22)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4892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[4]Cash_Pass, [8]CancelAll, [14]No_Credit...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포인트/회원 관련 (14)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3120" y="5166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[6]Sale_Point, [25]Tran_Point, [18]CashBack...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4406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럭키유저/이벤트 (11)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03120" y="54406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[34~44] LU_Chk, LU_Per, LU_Point...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715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바코드/저울 (4)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120" y="5715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[31]Resend_Barcode, [56]Scale_18_YN...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989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금액/세금/메시지 (15)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03120" y="5989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[51]Change_Type, [62]Tax_Auto, [64]SaleMsg_YN...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3840480"/>
            <a:ext cx="566928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400800" y="3931920"/>
            <a:ext cx="109728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SERVER DB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Office_User - Shop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매장 기본 정보 / 서버DB 40+컬럼 / S_Config_Call()로 로딩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4617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매장 기본정보 (10)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2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OFFICE_NAME, office_num, owner_name, address...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892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SMS/푸시 설정 (6)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0" y="4892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eBill_sms_yn, eBill_push_yn, Push_title/msg...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확장바코드 (1)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20" y="5166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strBarcode_YN (XBarcode)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4406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셀프 핫키 (5)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0" y="54406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selfPos_Hotkey1~4, SMS_GUBUN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5715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주방 메시지 (5)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5715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kitchenMsg1~5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로딩 순서: INI_Load() -&gt; S_Config_Call() (DB 연결 후)</a:t>
            </a:r>
          </a:p>
        </p:txBody>
      </p:sp>
    </p:spTree>
    <p:extLst>
      <p:ext uri="{BB962C8B-B14F-4D97-AF65-F5344CB8AC3E}">
        <p14:creationId xmlns:p14="http://schemas.microsoft.com/office/powerpoint/2010/main" val="115199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공통 설정 (30키)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20040"/>
            <a:ext cx="118872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INI /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6692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[Application] 애플리케이션 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39" y="1115568"/>
            <a:ext cx="82296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5keys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Pro_Name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63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프로그램명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POSON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Pro_Buttom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642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하단 텍스트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642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CopyRight...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653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Font_Add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8653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폰트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653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665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SALE_POINTUSE_UPDATE_YN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66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업데이트 플래그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066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2677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Backup_Month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267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백업 주기(월)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267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743200"/>
            <a:ext cx="56692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Malgun Gothic"/>
              </a:defRPr>
            </a:pPr>
            <a:r>
              <a:t>[Sale] 판매 운영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39" y="2852928"/>
            <a:ext cx="82296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10keys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OpenDay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200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영업 시작일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200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날짜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01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S_JeonPyo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전표 시퀀스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4015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027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St_Jeonpyo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6027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전표번호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6027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타임스탬프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039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Befor_Tran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3803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이전거래 합계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8039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050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Befor_Tran_Dec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이전거래 차감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0050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Befor_Tran_Card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2062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이전거래 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4206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407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DataDown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407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마스터 데이터 다운로드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4074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6085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Finish_Day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6085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마감일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6085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날짜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8097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Start_Price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8097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시재금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8097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0109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INOUT_Chk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50109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입출 체크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50109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1005840"/>
            <a:ext cx="5669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[Receipt] 영수증 정보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49839" y="1115568"/>
            <a:ext cx="82296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9keys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1463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ShopName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1463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매장명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1463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16642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ShopNumber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16642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사업자번호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16642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18653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18653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18653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20665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Owner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2066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대표자명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0" y="2066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22677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Tel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2267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전화번호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0" y="2267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24688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ShopName_Color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24688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매장명 색상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24688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8421440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Top5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26700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상단 여백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55680" y="26700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(빈값)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28712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Buttom5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80" y="28712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하단 여백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55680" y="28712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(빈값)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30723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NewShopName_Color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30723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새매장명 색상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55680" y="30723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16777215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3520440"/>
            <a:ext cx="566928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[DataBase] DB 연결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149839" y="3630168"/>
            <a:ext cx="82296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6keys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397763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DBType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97763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유형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55680" y="397763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417880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IP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0" y="417880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서버 IP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55680" y="417880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192.168.10.48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437997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UserName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4379975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사용자 (암호화)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55680" y="437997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458114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0" y="458114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비밀번호 (암호화)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55680" y="458114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0" y="478231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Port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478231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포트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155680" y="478231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1433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498347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DB_NAME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12480" y="49834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이름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498347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TIPS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참고: Sale 섹션은 날짜/시퀀스 등 기기별 운영 데이터  |  Receipt/Application은 매장 공통 설정</a:t>
            </a:r>
          </a:p>
        </p:txBody>
      </p:sp>
    </p:spTree>
    <p:extLst>
      <p:ext uri="{BB962C8B-B14F-4D97-AF65-F5344CB8AC3E}">
        <p14:creationId xmlns:p14="http://schemas.microsoft.com/office/powerpoint/2010/main" val="248989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[Terminal] 터미널 HW (42키)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320040"/>
            <a:ext cx="137160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모두 기기별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749039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Malgun Gothic"/>
              </a:defRPr>
            </a:pPr>
            <a:r>
              <a:t>기본 / 프린터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TerminalType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기기 종류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PosNo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00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번호 (2자리)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AdminPosNo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관리자 POS번호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Cashdraw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캐시드로워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Touch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터치스크린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Moniter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메인 모니터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S_Moniter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514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서브 모니터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697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종류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포트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Printer_Serial_Bps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전송속도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Printer_CAT_USE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 프린터 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CAT_Port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 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CAT_BPS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611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 전송속도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Printer_Bps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속도 (중복)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1005840"/>
            <a:ext cx="3749039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스캐너/카드리더/CDP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1417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Scan_Name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스캐너 종류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1600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Scan_Port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1600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스캐너 포트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1783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HandScan_Port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핸드스캐너 포트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1965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MSR_Port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카드리더 포트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MSR_BPS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카드리더 전송속도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2514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CDP_Port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514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포트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697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라인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종류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CDP_BPS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전송속도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CDP_CASH_YN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현금표시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Coin_Name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동전교환기 종류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Coin_Port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611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동전교환기 포트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CBO_ScalePort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포트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60" y="1005840"/>
            <a:ext cx="3749039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2104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algun Gothic"/>
              </a:defRPr>
            </a:pPr>
            <a:r>
              <a:t>주방프린터/벨/듀얼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1417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KitchenPrint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주방프린터 종류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1600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KitchenPrintPort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1600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주방프린터 포트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1783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KitchenPrintBps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주방프린터 전송속도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1965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Kitchen_fontsize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6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 폰트크기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SuPyo_Port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수표 포트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Dual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모니터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2514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Dual_Type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6960" y="2514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유형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Bell_YN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66960" y="2697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사용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Bell_Type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6696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종류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Bell_ComPort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COM포트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Bell_Name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이름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Bell_fID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696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시설ID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Bell_fID_YN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66960" y="3611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시설ID 사용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Bell_LEN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6696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번호 길이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전체 42키 모두 POS 기기별 하드웨어 설정 - TOBE DeviceSetting(TERMINAL 카테고리)로 이전</a:t>
            </a:r>
          </a:p>
        </p:txBody>
      </p:sp>
    </p:spTree>
    <p:extLst>
      <p:ext uri="{BB962C8B-B14F-4D97-AF65-F5344CB8AC3E}">
        <p14:creationId xmlns:p14="http://schemas.microsoft.com/office/powerpoint/2010/main" val="58120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[Other] POS 업무 설정 (75키)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137160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 + 기기별 혼재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Malgun Gothic"/>
              </a:defRPr>
            </a:pPr>
            <a:r>
              <a:t>판매/가격 설정 (25키)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Price_Edit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280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가격 수정 허용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53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MaxPrice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53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최대 결제금액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HyeonGeumPrice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27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최대 현금금액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01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MIN_Card_Price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801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 카드결제 금액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751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SaleView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9751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판매화면 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48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InPriView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148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매입가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22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Grouping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322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그룹핑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963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Grid_Fix_YN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4963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그리드 고정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70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Grid_SaleEx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670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그리드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437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price_11_yn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8437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3단 가격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ENG_YN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영어 모드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9125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Product_Sound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19125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스캔 소리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364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Product_CashOpen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364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상품등록시 캐시드로워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5387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SCANCOP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5387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스캔 복사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12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SCAN_REAL_Chk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712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실시간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86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InfoDesk_YN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86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안내데스크 모드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59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InfoDesk_ViewAll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059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안내데스크 전체보기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33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Total_Qty_YN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4233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총 수량 표시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Logo_Min_YN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로고 최소화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81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Free_Opt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581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무료 옵션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54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Grade_Memo_YN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4754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등급 메모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9286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Order_Call_YN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49286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주문 호출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10235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f_Boryu_YN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510235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사용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2760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Boryu_Tran_Opt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52760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거래 옵션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4498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Delay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54498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지연 설정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624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891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카드/결제/마감 (25키)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OFF_CARD_Chk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오프라인 카드 사용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14538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OFF_CARD_KEY_USE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1453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오프라인 카드키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16276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HAND_CARD_YN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16276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수동 카드입력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1801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eCard_YN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전자카드 사용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CARD_Timer_YN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1975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타이머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Card_Wav_Opt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결제 소리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23225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Card_View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3225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표시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GIFT_BILL_ETC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4963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상품권 출력 기타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2670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Gift_Input_YN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6700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상품권 입력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2843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SelfPos_YN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2843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 모드 ON/OFF (!)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MisuPrint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미수 출력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0" y="31912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Re_Point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319125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환불시 포인트 재계산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89120" y="3364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Re_Tax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3364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환불시 세금 재계산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9120" y="3538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Re_CashBack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3538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환불시 캐시백 재계산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3712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MEMBER_ADD_SCREEN_YN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0" y="3712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추가 화면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9120" y="3886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noCVM_Bill_Print_YN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7920" y="3886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비CVM 영수증 출력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120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HOTKEY_ENTER_USE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0" y="4059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핫키 엔터 사용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Touch_HotKey_Opt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4233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 핫키 옵션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120" y="4407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Day_F_Msg_Opt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17920" y="4407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일마감 메시지 옵션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4581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Job_Finish_Cashdraw_YN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17920" y="4581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마감시 캐시드로워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4754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All_Finish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17920" y="4754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 마감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0" y="49286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Sale_Finish_Opt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928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마감 옵션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0" y="51023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Process_Method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17920" y="510235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화면잠금 사용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8912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MDB_Compact_YN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17920" y="52760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DB 자동 컴팩트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89120" y="54498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Err_Write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17920" y="54498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에러 로깅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13816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32104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출력/다운로드/기타 (25키)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Print_VAT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4984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부가세 출력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21040" y="14538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Print_Barcode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49840" y="1453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출력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1040" y="16276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Bott_Print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149840" y="16276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합계 출력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21040" y="1801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Slot_Add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9840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용지 슬롯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Cut_Position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49840" y="1975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절단 위치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10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Printer_OFF_Chk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984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오프라인 체크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23225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Point_Bill_Print_YN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49840" y="23225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영수증 출력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reTranBill_Print_1_YN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40" y="24963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재거래 영수증 출력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2670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no_Bill_fMessage_YN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49840" y="26700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메시지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2843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no_Bill_fSound_YN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49840" y="2843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소리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no_Bill_CusPoint_YN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14984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포인트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21040" y="31912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wSclae_Danwi_Print_YN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319125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단위 출력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3364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wSclae_Danwi_View_YN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3364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단위 표시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3538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mDown_YN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49840" y="3538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마스터 다운로드 사용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3712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mDown_Week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49840" y="3712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다운로드 주기(주)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21040" y="3886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New_Item_Update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49840" y="3886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신규상품 업데이트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DataDown_Goods_NO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49840" y="4059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데이터 다운로드 번호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32104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Shop_Chk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149840" y="4233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 체크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21040" y="4407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Hotkey_Chk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149840" y="4407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핫키 체크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321040" y="4581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All_Data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149840" y="4581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 데이터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21040" y="4754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All_Finish_BAK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49840" y="4754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전체마감 백업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21040" y="49286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All_Finish_BAK_Def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149840" y="4928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전체마감 백업 기본값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21040" y="51023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PosMenu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149840" y="510235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메뉴 사용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Dual_Pos_TEST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149840" y="52760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듀얼POS 테스트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21040" y="54498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Pro_Comp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149840" y="54498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프로그램 압축</a:t>
            </a:r>
          </a:p>
        </p:txBody>
      </p:sp>
    </p:spTree>
    <p:extLst>
      <p:ext uri="{BB962C8B-B14F-4D97-AF65-F5344CB8AC3E}">
        <p14:creationId xmlns:p14="http://schemas.microsoft.com/office/powerpoint/2010/main" val="158060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VAN 결제 설정 (13개 VAN사, 65+키)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01168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IP:공통 / 단말번호:기기별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[Card] VAN 공통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VAN_Select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VAN사 선택 (1~13)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D4BF"/>
                </a:solidFill>
                <a:latin typeface="Malgun Gothic"/>
              </a:defRPr>
            </a:pPr>
            <a:r>
              <a:t>기기별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SingPad_Port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00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서명패드 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D4BF"/>
                </a:solidFill>
                <a:latin typeface="Malgun Gothic"/>
              </a:defRPr>
            </a:pPr>
            <a:r>
              <a:t>기기별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CashBack_YN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783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캐시백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783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OCash_Screen_YN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9659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온라인현금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9659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488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Log_Delete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148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로그 삭제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148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606040"/>
            <a:ext cx="116128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VAN사별 13개 섹션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VAN사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0175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INI 섹션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IP (공통)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017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Port (공통)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DANMALNO (기기별)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0175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Snumber (기기별)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175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기타 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2552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273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KSNET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273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[KSNET]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273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210.181.28.137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273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9562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273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273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2735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SingPad_BPS, USB_YN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02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502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[KIS]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502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502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502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O(암호화)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021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5021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Pos_Number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7124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37307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KMPS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37307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[KMPS]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3730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730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730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730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Port_chk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593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SMARTRO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3959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[SMARTRO]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3959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211.192.50.244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9593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5801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959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39593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959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41696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1879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StarVAN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87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[StarVAN]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4187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41879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4187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1879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1879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416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NICE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0160" y="4416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[NICE]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211.33.136.2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4416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7709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4416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4165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Dll_Chk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46268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4645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JTNet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80160" y="4645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[JTNet]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86000" y="4645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211.48.96.28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0" y="4645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11025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0" y="4645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0" y="46451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6451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8737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KICC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160" y="48737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[KICC]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86000" y="4873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203.233.72.21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0" y="4873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15700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0" y="4873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0" y="4873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4873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SingPad_BPS, SingCall_Type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65760" y="50840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57200" y="51023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KCB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0160" y="5102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[KCB]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8600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0" y="51023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0" y="51023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0" y="5102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Use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53309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KOVAN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80160" y="5330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[KOVAN]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86000" y="5330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203.231.12.152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14800" y="53309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10902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0" y="5330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O(암호화)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0" y="53309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0" y="53309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Dll_Chk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5760" y="55412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57200" y="5559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KOCES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80160" y="5559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[KOCES]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86000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211.192.167.38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14800" y="5559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10015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29200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0" y="5559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0" y="55595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SingPad_Name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788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KCP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5788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[KCP]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86000" y="5788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203.238.36.152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14800" y="5788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9976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0" y="5788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57881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9600" y="57881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Dll_Chk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59984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57200" y="60167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KFTC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80160" y="60167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[KFTC]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kftcvan.or.kr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14800" y="6016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0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SeqNo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600" y="6016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Point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0" y="1005840"/>
            <a:ext cx="6400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66928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성격 분류 범례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0" y="13716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IP / Port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772400" y="13716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VAN사 제공 공통값, 매장별 동일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DANMALNO / Snumber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0" y="16002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가맹점 단말기 고유번호, 기기별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18288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SingPad_BPS / SingCall_Type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72400" y="18288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서명패드 HW 설정</a:t>
            </a:r>
          </a:p>
        </p:txBody>
      </p:sp>
    </p:spTree>
    <p:extLst>
      <p:ext uri="{BB962C8B-B14F-4D97-AF65-F5344CB8AC3E}">
        <p14:creationId xmlns:p14="http://schemas.microsoft.com/office/powerpoint/2010/main" val="196837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pos_config.ini - [Self] </a:t>
            </a:r>
            <a:r>
              <a:rPr dirty="0" err="1"/>
              <a:t>셀프키오스크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(73키)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320040"/>
            <a:ext cx="1828800" cy="29260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err="1" smtClean="0"/>
              <a:t>키오스크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현금 결제 (10키)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34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 결제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08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08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COM포트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81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self_CashSleep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5819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대기시간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self_CashPhonNum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755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연락처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self_CashGubun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929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종류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self_NoHyunYoung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실결제금액 숨김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76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self_OneHPUse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276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1만원권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50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self_50HPUse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5만원권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24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self_10000Use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24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만원권 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98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798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결제 비활성화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Malgun Gothic"/>
              </a:defRPr>
            </a:pPr>
            <a:r>
              <a:t>봉투/저울 (6키)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self_BagPort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246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봉투 감지 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19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self_StartBag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419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시작시 봉투 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93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Self_MBagSell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3593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복수 봉투 판매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767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self_LastBag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767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마지막 봉투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41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Self_ScalePort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941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COM포트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Self_ScaleLimitG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1148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무게 한도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STL 보안태그 (6키)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STLGoods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5720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상품 등록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745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STLNoGoods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7457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미등록 상품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19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STLGoodsNo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919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상품번호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932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STLSoundAdmin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50932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관리자 알림음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2669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2669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COM포트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440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440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 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0624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Malgun Gothic"/>
              </a:defRPr>
            </a:pPr>
            <a:r>
              <a:t>고객 인터페이스 (13키)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1234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SoundGuide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1234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음성 안내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1408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Self_CusNum4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1408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회원번호 4자리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5819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self_NoCustomer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1581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비회원 판매 허용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1755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self_CusSelect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1755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선택 방식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1929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CusAddUse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1929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추가 사용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Self_CusAddEtc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추가 기타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2276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CusTopMsg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2276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상단 메시지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CusBTMsg1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2450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버튼 메시지1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2624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CusBTMsg2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2624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버튼 메시지2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2798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self_TouchSoundYN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2798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 소리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29718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self_CusAlarmUse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2971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알람 사용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314553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Self_CusAlarmTime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314553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알람 시간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3192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no_Bill_CusPoint_YN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26480" y="33192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고객포인트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0" y="3611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자동 운영 (8키)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89120" y="38404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Auto_Open_YN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3840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개점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0" y="40142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Auto_Finish_YN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0" y="40142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마감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9120" y="41879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Auto_Day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0" y="4187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운영 날짜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43616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0" y="43616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AM/PM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89120" y="45354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Auto_HH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0" y="45354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0" y="4709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Auto_MM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4709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120" y="4882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0" y="4882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로그인 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89120" y="5056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Auto_Pass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26480" y="50566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로그인 PW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3816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2104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algun Gothic"/>
              </a:defRPr>
            </a:pPr>
            <a:r>
              <a:t>포인트/알림 (11키)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1040" y="1234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self_NoAutoPoint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1234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자동포인트 비활성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21040" y="1408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self_PointZero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58400" y="1408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초기화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21040" y="15819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self_PointHidden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0" y="1581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숨김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21040" y="1755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Self_PointSMSUse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58400" y="1755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SMS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21040" y="1929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Self_UserCall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1929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직원호출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104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Self_SMSAdmin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관리자 SMS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21040" y="2276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Self_Kakao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58400" y="2276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카카오 알림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2104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Self_Zero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2450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제로클릭 알림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1040" y="2624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self_ICSiren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58400" y="2624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IC 사이렌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21040" y="2798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Self_CamUse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58400" y="2798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카메라 사용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29718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self_SNSGubun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2971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21040" y="3200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Malgun Gothic"/>
              </a:defRPr>
            </a:pPr>
            <a:r>
              <a:t>UI/화면 (9키)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34290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Self_MainPage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05840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메인페이지 표시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36027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Self_BTInit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0" y="3602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초기화 버튼 표시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3776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Self_OneCancel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58400" y="3776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개별취소 버튼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39502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Self_zHotKey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58400" y="39502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Z핫키 사용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1239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self_CountYN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58400" y="41239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계수버튼 표시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21040" y="4297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self_StartHotKey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058400" y="4297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시작 핫키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44714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self_PriceUse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058400" y="44714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가격 조정 사용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46451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self_PriceType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58400" y="46451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가격 유형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48188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Self_Reader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058400" y="48188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ID 리더기 유형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2104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인쇄/기타 (10키)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21040" y="5303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Self_AutoPrint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58400" y="5303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출력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5477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self_StoPrint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0" y="5477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출력 중지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5650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self_PrintAddress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058400" y="5650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주소 출력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21040" y="58247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self_PrintPhon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58400" y="5824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전화번호 출력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21040" y="5998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Self_JPYN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058400" y="5998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일본 모드(동전교환)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21040" y="6172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self_BagJPPort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58400" y="6172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JP 봉투 포트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21040" y="6345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Self_NoAutoGoods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058400" y="6345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자동상품 비활성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21040" y="6519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self_AppCard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058400" y="6519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앱카드 사용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21040" y="6693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self_Apple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058400" y="6693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애플페이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21040" y="6867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Self_Gif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58400" y="6867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GIF 파일 경로</a:t>
            </a:r>
          </a:p>
        </p:txBody>
      </p:sp>
    </p:spTree>
    <p:extLst>
      <p:ext uri="{BB962C8B-B14F-4D97-AF65-F5344CB8AC3E}">
        <p14:creationId xmlns:p14="http://schemas.microsoft.com/office/powerpoint/2010/main" val="242551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기타 기기 + POSON2 + UI/색상 (52키)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749039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[FaceCam] 안면인식 (4키)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801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안면인식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TimeOut_Use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813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타임아웃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824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Dealy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824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지연시간 (초)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TimeOut_Sec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83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타임아웃 (초)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468880"/>
            <a:ext cx="3749039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[JaPan] 자판기 (7키)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Auto_Open_YN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34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jp_Port1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35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자판기 포트1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36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jp_Port2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369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자판기 포트2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jp_StoYN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381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재고관리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39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jp_oneSell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6393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단일상품 판매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jp_FirstPage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8404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첫페이지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41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jp_SellPriShow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416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판매가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80560"/>
            <a:ext cx="3749039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[Selfimg] 이미지셀프 (6키)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46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846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스캔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onlyShop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매장전용 판매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prepayment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212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선결제 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94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selfImg_TableNoUse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394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테이블번호 미사용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77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selfImg_TableNumUse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577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테이블숫자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60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self_SNSGubun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89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Malgun Gothic"/>
              </a:defRPr>
            </a:pPr>
            <a:r>
              <a:t>[Self21] 21인치셀프 (3키)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179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Self21_CountYN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62179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계수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00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slef21_DCVisible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64008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할인 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83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self_CusAddEtc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고객추가 기타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6240" y="914400"/>
            <a:ext cx="3749039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8912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[Dual_Msg] 듀얼 모니터 (7키)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상단 메시지0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1481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DTop0_Color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상단0 색상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16824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상단 메시지1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8836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DTop1_Color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상단1 색상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20848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DButtom0_Color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0848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색상0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2286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DButtom1~3_Color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색상1~3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24871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DButtom4_Color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4871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색상4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06240" y="3154680"/>
            <a:ext cx="3749039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891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Malgun Gothic"/>
              </a:defRPr>
            </a:pPr>
            <a:r>
              <a:t>[POSON2_*] 통합 기능 (9키)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3520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USE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3520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UPS 사용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37216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SMS_USE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37216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SMS 알림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39227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MSG_USE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39227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메시지 알림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12394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Recv_Mobile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41239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수신 번호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43251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[Login] USE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2160" y="4325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자동로그인 사용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45262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[Login] sMoney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60" y="4526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시재금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0" y="47274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[Login] 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52160" y="4727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로그인 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89120" y="49286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[wSock] USE_YN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0" y="4928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웹소켓 사용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9120" y="5129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[wSock] TCP_PORT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52160" y="5129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TCP 포트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06240" y="5897880"/>
            <a:ext cx="3749039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38912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[Sale_Color/Font] 색상/폰트 설정 (16키)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3816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321040" y="1005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기타 INI 섹션 (18키)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12801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[INI_Pass] DelKey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32720" y="12801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삭제 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15179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[Backup] Path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32720" y="15179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백업 경로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21040" y="17556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[Update_Data] Convert_chk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2720" y="17556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변환 체크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21040" y="1993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[Option] Manual_YN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2720" y="19933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수동 모드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22311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[MEMBER_ADD] Tax_Option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32720" y="223113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세금 옵션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24688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Update_Option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32720" y="24688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업데이트 옵션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21040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Customer_Code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20" y="27066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거래처 코드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21040" y="29443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Customer_Name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32720" y="29443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거래처명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Group_Code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32720" y="31821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 코드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1040" y="34198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Group_Name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32720" y="34198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그룹명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3657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Branch_Rate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32720" y="36576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분류 세율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21040" y="38953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Size_Print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32720" y="389534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태그 인쇄 크기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1040" y="41330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Danwi_Print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32720" y="41330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단위 인쇄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21040" y="43708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NRP_Print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32720" y="4370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NRP 인쇄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46085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Feed_Cnt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32720" y="46085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피드 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1040" y="4846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[shop_chk] TT_yn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32720" y="48463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 체크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50840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[Config] Screen_Hide_YN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32720" y="508406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화면 숨김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5321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[Shop] KitchenMsg1~4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32720" y="53218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 메시지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[Grid_*] 20+섹션 (~100키)</a:t>
            </a:r>
            <a:br/>
            <a:r>
              <a:t>VB6 그리드 컬럼폭 - Vue/CSS로 대체</a:t>
            </a:r>
          </a:p>
        </p:txBody>
      </p:sp>
    </p:spTree>
    <p:extLst>
      <p:ext uri="{BB962C8B-B14F-4D97-AF65-F5344CB8AC3E}">
        <p14:creationId xmlns:p14="http://schemas.microsoft.com/office/powerpoint/2010/main" val="2627334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DB: POS_Set[101] - S_Config (78+필드)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20040"/>
            <a:ext cx="182880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SERVER DB / 매장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서버 동기화 업무규칙 / 쉼표구분 78+값 / S_Config_Call()로 로딩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3749039" cy="5577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출력/인쇄 관련 (12필드)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[0] Group_Print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그룹별 출력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[3] PrintLine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45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출력 라인(1/2줄)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[11] Boryu_Print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719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[15] Print_Barcode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92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66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[16] Print_VAT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066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부가세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[17] Bott_Print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40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합계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14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[23] Card_Detail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상세 출력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87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[24] SuPyo_Print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수표 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[28] Print_ShopBarcode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매장바코드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352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[29] Print_SignJeonpyo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935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서명패드 전표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[30] TranJeonpyo2_YN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전표 2매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8269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[53] Seq_Print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28269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순차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Malgun Gothic"/>
              </a:defRPr>
            </a:pPr>
            <a:r>
              <a:t>판매/업무 규칙 (11필드)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[1] Money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금액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684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[2] NewProduct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968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신규상품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42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[4] Cash_Pass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1422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 비밀번호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3159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[5] Price_Zero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3159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0원 판매 허용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4897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[8] CancelAll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4897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전체취소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[9] JeonPyo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663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전표 사용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837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[10] Tran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837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[12] Card_CashOpen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010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카드시 캐시드로워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84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[13] CancelAll_Bigo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5184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전체취소 비고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583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[14] No_Credit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5358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외상 불가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532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[20] Grouping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532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그룹핑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1005840"/>
            <a:ext cx="3749039" cy="5577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Malgun Gothic"/>
              </a:defRPr>
            </a:pPr>
            <a:r>
              <a:t>판매/업무 규칙2 (11필드)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[19] InPriView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매입가 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545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[21] BanPum_PassChk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1545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비밀번호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[22] MEMPrice_Chk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1719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한도 체크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1892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[27] HyeonGeum_Chk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1892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 강제입력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2066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[32] Jeonpyo_HiddenYN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2066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전표번호 숨김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[33] InTran_JeonpyoYN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2240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입금 전표 사용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414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[46] Finish_TranChk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마감 거래 불가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2587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[54] BanPum_Chk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전표 확인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[55] BoryuMsg_View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메시지 표시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29352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[57] Boryu_Detail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935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상세 표시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[65] Goods_Use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판매시 재고 사용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383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바코드/저울 (3필드)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0" y="3657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[31] Resend_BarcodeYN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3657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재전송 바코드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89120" y="3831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[56] Scale_18_YN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3831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18자리 저울 바코드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0" y="4005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[102] Group_Sel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05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 선택(대/중)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912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금액/세금/메시지 (15필드)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45262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[51] Change_Type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45262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거스름돈 유형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9120" y="47000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[52] Change_Auto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60" y="47000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거스름돈 자동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120" y="48737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[58] Min_PrintYN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48737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 출력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0" y="50474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[59] Min_PointYN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60" y="50474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 포인트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120" y="522122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[60] Min_Price1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9360" y="52212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5394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[61] Min_Price2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0" y="539496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5568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[62] Tax_Auto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09360" y="5568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세금 자동발행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0" y="57424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[63] Profit_Msg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09360" y="57424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이익 메시지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0" y="59161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[64] SaleMsg_YN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60" y="59161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메시지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89120" y="60899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[237] Tax_Gubun_View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09360" y="60899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세금 구분 표시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89120" y="62636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[241] POS_Smoney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09360" y="62636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준비금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89120" y="6437375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[242] FACE_ADD_Point_Chk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60" y="6437375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안면인식 포인트 체크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89120" y="6611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[243] FACE_ADD_Point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9360" y="66111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안면인식 포인트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89120" y="67848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[252~256] SalePrice_MSG*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9360" y="67848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판매금액 메시지 (5종)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138160" y="1005840"/>
            <a:ext cx="3749039" cy="5577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algun Gothic"/>
              </a:defRPr>
            </a:pPr>
            <a:r>
              <a:t>포인트/회원 관련 (14필드)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2104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[6] Sale_Point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984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포인트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1545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[7] Weight_Point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49840" y="1545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중량 포인트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104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[18] CashBack_YN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9840" y="1719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캐시백 사용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1892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[25] Tran_Point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49840" y="1892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 포인트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2066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[26] Sale_CashbackPoint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40" y="2066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캐시백 포인트 적립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[45] Tran_Pointchk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49840" y="2240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포인트 체크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2414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[47] MEM_DecList_YN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4984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차감 목록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2587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[48] MEM_DecList_Msg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149840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차감 메시지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21040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[49] Dec_PointChk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포인트 체크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29352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[50] Dec_PointPer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2935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포인트율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[245] DEC_MEMO_Chk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4984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메모 체크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328269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POS_Count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49840" y="328269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대수 (별도)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21040" y="34564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Tran_PointPer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49840" y="34564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 포인트율 (%)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36301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Dec_PointPer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49840" y="36301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포인트율 (%)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321040" y="3886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Malgun Gothic"/>
              </a:defRPr>
            </a:pPr>
            <a:r>
              <a:t>럭키유저/이벤트 (11필드)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4160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[34] LU_Chk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149840" y="4160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체크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21040" y="4334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[35] LU_Per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149840" y="4334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확률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21040" y="4507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[36] LU_Point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49840" y="4507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포인트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21040" y="4681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[37] LU_CardPer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149840" y="4681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카드 확률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21040" y="4855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[38] LU_SPoint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149840" y="4855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S포인트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2104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[39] LU_MinPrice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14984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최소금액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21040" y="5202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[40] LU_Sound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149840" y="5202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소리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21040" y="5376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[41] LU_Print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149840" y="5376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출력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21040" y="5550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[42] LU_Opt1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149840" y="5550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옵션1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321040" y="5724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[43] LU_Opt2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149840" y="5724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옵션2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21040" y="5897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[44] LU_Price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149840" y="5897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금액</a:t>
            </a:r>
          </a:p>
        </p:txBody>
      </p:sp>
    </p:spTree>
    <p:extLst>
      <p:ext uri="{BB962C8B-B14F-4D97-AF65-F5344CB8AC3E}">
        <p14:creationId xmlns:p14="http://schemas.microsoft.com/office/powerpoint/2010/main" val="571502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DB: Office_User (Shop) + 전체 통계 + 마이그레이션 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3035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Office_User - Shop Type (24+필드)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50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office_num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950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사업자번호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950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owner_name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664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대표자명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642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3337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office_tel1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3337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전화번호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3337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002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address1+2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002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0025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1717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sto_cd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1717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1717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40863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340863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버전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34086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5100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OFFICE_NAME2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5100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출력용 매장명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100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791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Online_KEY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2679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온라인 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679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483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en_use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8483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암호화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84835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017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eBill_sms_yn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017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SMS 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017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18668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eBill_auto_sms_yn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1866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SMS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1866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35584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eBill_push_yn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335584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3558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5250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5250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제목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5250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694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eBill_push_msg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36941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메시지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6941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633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eBill_push_link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38633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링크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8633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03250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strBarcode_YN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40325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확장바코드 사용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0325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2016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selfPos_Hotkey1~4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42016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 핫키 1~4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42016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셀프전용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3708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SMS_GUBUN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43708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43708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셀프전용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5399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kitchenMsg1~5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45399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 메시지 1~5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453999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주방전용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852160" y="914400"/>
            <a:ext cx="603504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3504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저장소별 항목 수 통계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13258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pos_config.ini (POS 런타임)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1325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~446 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14996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[Other] POS 업무 설정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14996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75 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16733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[Terminal] HW 설정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16733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42 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18470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[Card]+VAN 13개사 결제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1847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65+ 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02082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[Self] 셀프키오스크 전용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20208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73 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2194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[FaceCam/JaPan/Selfimg/Self21/Dual/POSON2]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21945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52 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23682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[Grid_*] VB6 그리드 컬럼폭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23682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Malgun Gothic"/>
              </a:defRPr>
            </a:pPr>
            <a:r>
              <a:t>~100 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25420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영수증/애플리케이션/DB접속/기타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2542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39 키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288950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DB: POS_Set[101] (S_Config)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28895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~78 필드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0" y="3063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DB: Office_User (Shop)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3063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~24 필드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35040" y="34107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POS 런타임 합계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34107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~548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35040" y="35844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Malgun Gothic"/>
              </a:defRPr>
            </a:pPr>
            <a:r>
              <a:t>config.ini (관리프로그램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35844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78BFA"/>
                </a:solidFill>
                <a:latin typeface="Malgun Gothic"/>
              </a:defRPr>
            </a:pPr>
            <a:r>
              <a:t>~350 키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4320" y="4069080"/>
            <a:ext cx="11612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Malgun Gothic"/>
              </a:defRPr>
            </a:pPr>
            <a:r>
              <a:t>ASIS -&gt; TOBE 마이그레이션 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44805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ASIS 저장소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0400" y="4480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ASIS 설정 유형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4480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항목 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4480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TOBE 저장 위치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63840" y="4480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비고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65760" y="4700016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7200" y="4709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[Other]+[Sale]+[Receipt]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00400" y="4709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공통 설정 + 영수증 + 업무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46320" y="47091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~100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77840" y="4709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SystemSetting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63840" y="47091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6개 카테고리: SALE/PAYMENT/PRINT/POINT/BARCODE/SYSTEM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4919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[Terminal]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0400" y="4919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터미널 HW 설정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0" y="49194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~42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77840" y="49194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(TERMINAL)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63840" y="49194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개별 POS/KIOSK/KITCHEN 기기별 관리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5120640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57200" y="51297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[Card]+VAN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00400" y="5129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VAN 결제 설정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46320" y="51297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~65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51297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(VAN)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63840" y="51297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12개 VAN사 통합 관리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53400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[Self]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00400" y="53400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셀프키오스크 전용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46320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~73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77840" y="53400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(SELF_*)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63840" y="53400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6개 하위: CASH/BAG/AUTO/POINT/PRINT/ETC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5541264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57200" y="5550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[FaceCam/JaPan/Selfimg/Self21]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0400" y="5550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기타 기기 전용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46320" y="55504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~20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77840" y="55504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(TYPE_*)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63840" y="55504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기기 유형별 분리 관리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5760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DB: POS_Set[101]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00400" y="5760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업무 규칙 공통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46320" y="5760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~78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77840" y="5760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SystemSetting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863840" y="57607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기존 DB에서 DB로 이전 (구조 개선)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65760" y="5961888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57200" y="59710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DB: Office_User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00400" y="59710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 기본 정보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46320" y="59710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77840" y="5971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SystemSetting / Business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63840" y="59710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BusinessView.vue에서 관리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61813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[Grid_*]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0400" y="61813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VB6 그리드 컬럼폭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846320" y="61813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~100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577840" y="61813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마이그레이션 제외 (Vue/CSS)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638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대체 불필요 - Vue/CSS로 처리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6382512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57200" y="63916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config.ini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00400" y="63916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관리프로그램 전용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46320" y="6391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~350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63916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별도 관리 프로그램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863840" y="63916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POS 런타임과 무관</a:t>
            </a:r>
          </a:p>
        </p:txBody>
      </p:sp>
    </p:spTree>
    <p:extLst>
      <p:ext uri="{BB962C8B-B14F-4D97-AF65-F5344CB8AC3E}">
        <p14:creationId xmlns:p14="http://schemas.microsoft.com/office/powerpoint/2010/main" val="285826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3357</Words>
  <Application>Microsoft Office PowerPoint</Application>
  <PresentationFormat>와이드스크린</PresentationFormat>
  <Paragraphs>1195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bysub</cp:lastModifiedBy>
  <cp:revision>11</cp:revision>
  <dcterms:created xsi:type="dcterms:W3CDTF">2013-01-27T09:14:16Z</dcterms:created>
  <dcterms:modified xsi:type="dcterms:W3CDTF">2026-02-19T03:50:37Z</dcterms:modified>
  <cp:category/>
</cp:coreProperties>
</file>