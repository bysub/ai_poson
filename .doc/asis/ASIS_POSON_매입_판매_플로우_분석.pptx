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POSON POS 레거시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매입 ~ 판매 비즈니스 플로우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Malgun Gothic"/>
              </a:defRPr>
            </a:pPr>
            <a:r>
              <a:t>ASIS 분석 | VB6 레거시 소스 기반 | POS &amp; KIOSK 모드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754880"/>
            <a:ext cx="2377440" cy="100584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분석 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5212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300K+ LOC / 152 폼 / 26 모듈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754880"/>
            <a:ext cx="2377440" cy="100584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분석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5212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POSON_POS, POSON_POS_SELF21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754880"/>
            <a:ext cx="2377440" cy="100584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분석일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5212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2026-02-19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전체 비즈니스 사이클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18288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매입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거래처 → 입고</a:t>
            </a:r>
            <a:br/>
            <a:r>
              <a:t>InD/InT 테이블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48840"/>
            <a:ext cx="27432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0" y="1371600"/>
            <a:ext cx="2011680" cy="18288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88920" y="1463040"/>
            <a:ext cx="45720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상품등록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377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Goods 마스터</a:t>
            </a:r>
            <a:br/>
            <a:r>
              <a:t>분류코드/가격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54880" y="2148840"/>
            <a:ext cx="27432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0" y="1371600"/>
            <a:ext cx="2011680" cy="18288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74920" y="1463040"/>
            <a:ext cx="45720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판매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377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POS / KIOSK</a:t>
            </a:r>
            <a:br/>
            <a:r>
              <a:t>SaD/SaT 테이블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40880" y="2148840"/>
            <a:ext cx="274320" cy="2743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0" y="1371600"/>
            <a:ext cx="2011680" cy="18288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60920" y="1463040"/>
            <a:ext cx="45720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결제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377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VAN 12사</a:t>
            </a:r>
            <a:br/>
            <a:r>
              <a:t>카드/현금/포인트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26880" y="2148840"/>
            <a:ext cx="274320" cy="274320"/>
          </a:xfrm>
          <a:prstGeom prst="right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01200" y="1371600"/>
            <a:ext cx="2011680" cy="18288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46920" y="1463040"/>
            <a:ext cx="45720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정산/마감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377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일계 DF 테이블</a:t>
            </a:r>
            <a:br/>
            <a:r>
              <a:t>Z리포트 출력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핵심</a:t>
            </a:r>
            <a:r>
              <a:rPr dirty="0"/>
              <a:t> DB </a:t>
            </a:r>
            <a:r>
              <a:rPr dirty="0" err="1"/>
              <a:t>테이블</a:t>
            </a:r>
            <a:r>
              <a:rPr dirty="0"/>
              <a:t> (</a:t>
            </a:r>
            <a:r>
              <a:rPr dirty="0" err="1"/>
              <a:t>월별</a:t>
            </a:r>
            <a:r>
              <a:rPr dirty="0"/>
              <a:t> </a:t>
            </a:r>
            <a:r>
              <a:rPr dirty="0" err="1"/>
              <a:t>동적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77639"/>
            <a:ext cx="164592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월별 동적 테이블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SaT_{YYYYMM}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rPr dirty="0" err="1"/>
              <a:t>판매</a:t>
            </a:r>
            <a:r>
              <a:rPr dirty="0"/>
              <a:t> </a:t>
            </a:r>
            <a:r>
              <a:rPr dirty="0" err="1"/>
              <a:t>총계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393192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Sale_Num(PK), 40+ 컬럼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SaD_{YYYYMM}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판매 상세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Sale_Num + Sale_Seq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1663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InT_{YYYYMM}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1663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입고 총계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1663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In_Date 기준 집계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InD_{YYYYMM}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입고 상세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Barcode + In_Date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978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LastSt_{YYYYMM}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897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이월재고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589787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BarCode(PK), Real_Sto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DF_{YYYYMM}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6263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일계 정산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6263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Sale_Date(PK)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3977639"/>
            <a:ext cx="164592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마스터 테이블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Goods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상품 마스터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BarCode(PK)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Office_Manage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거래처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Office_Code(PK)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1663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Bundle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51663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묶음상품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51663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P_Barcode + C_Barcode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Stock_Discard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폐기 재고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Barcode + SD_DATE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6400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UC-P01: 매입 (Purchase/Receiving)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관리자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핵심 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Frm_PurchaseManage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InD/InT_{YYYYMM}, LastSt_{YYYYMM}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88720"/>
            <a:ext cx="6858000" cy="530352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1. 매입 관리 화면 (Frm_PurchaseManage) 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1051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2. 거래처 선택 (Office_Manage 테이블 조회)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4942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3. 매입일자, 매입유형 선택 (정상/반품/누락/재고조정)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8833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4. 상품 바코드 스캔 또는 검색 (Goods 테이블)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5. 매입단가(Pur_Pri) × 수량(In_Count) 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6. 입고금액 자동 계산: In_Pri = Pur_Pri × In_Count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0507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7. 박스 상품: BOX_USE='1' → OBTAIN 수량 자동 적용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43983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Malgun Gothic"/>
              </a:defRPr>
            </a:pPr>
            <a:r>
              <a:t>8. 매입 확정 → InD_{YYYYMM} INSERT (입고 상세)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8289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Malgun Gothic"/>
              </a:defRPr>
            </a:pPr>
            <a:r>
              <a:t>9. InT_{YYYYMM} UPDATE (입고 총계)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218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Malgun Gothic"/>
              </a:defRPr>
            </a:pPr>
            <a:r>
              <a:t>10. LastSt_{YYYYMM} Real_Sto 증가 (이월재고)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11. (선택) 매입 영수증 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이월재고 계산 공식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645920"/>
            <a:ext cx="4297680" cy="3200400"/>
          </a:xfrm>
          <a:prstGeom prst="roundRect">
            <a:avLst/>
          </a:prstGeom>
          <a:solidFill>
            <a:srgbClr val="1A24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1828800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  <a:latin typeface="Malgun Gothic"/>
              </a:defRPr>
            </a:pPr>
            <a:r>
              <a:t>Real_Sto =</a:t>
            </a:r>
          </a:p>
          <a:p>
            <a:pPr>
              <a:spcAft>
                <a:spcPts val="200"/>
              </a:spcAft>
              <a:defRPr sz="1200" b="0">
                <a:solidFill>
                  <a:srgbClr val="CBD5E1"/>
                </a:solidFill>
                <a:latin typeface="Malgun Gothic"/>
              </a:defRPr>
            </a:pPr>
            <a:r>
              <a:t>  전월이월</a:t>
            </a:r>
          </a:p>
          <a:p>
            <a:pPr>
              <a:spcAft>
                <a:spcPts val="200"/>
              </a:spcAft>
              <a:defRPr sz="1200" b="0">
                <a:solidFill>
                  <a:srgbClr val="FBBF24"/>
                </a:solidFill>
                <a:latin typeface="Malgun Gothic"/>
              </a:defRPr>
            </a:pPr>
            <a:r>
              <a:t>  - 판매수량 (SaD_Count)</a:t>
            </a:r>
          </a:p>
          <a:p>
            <a:pPr>
              <a:spcAft>
                <a:spcPts val="200"/>
              </a:spcAft>
              <a:defRPr sz="1200" b="0">
                <a:solidFill>
                  <a:srgbClr val="FBBF24"/>
                </a:solidFill>
                <a:latin typeface="Malgun Gothic"/>
              </a:defRPr>
            </a:pPr>
            <a:r>
              <a:t>  - 반품수량 (SdD_Count)</a:t>
            </a:r>
          </a:p>
          <a:p>
            <a:pPr>
              <a:spcAft>
                <a:spcPts val="200"/>
              </a:spcAft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  + 입고수량 (InD_Count)</a:t>
            </a:r>
          </a:p>
          <a:p>
            <a:pPr>
              <a:spcAft>
                <a:spcPts val="200"/>
              </a:spcAft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  + 재고조정 (StSet_Count)</a:t>
            </a:r>
          </a:p>
          <a:p>
            <a:pPr>
              <a:spcAft>
                <a:spcPts val="200"/>
              </a:spcAft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  - 폐기수량 (SD_COUNT)</a:t>
            </a:r>
          </a:p>
          <a:p>
            <a:pPr>
              <a:spcAft>
                <a:spcPts val="200"/>
              </a:spcAft>
              <a:defRPr sz="1200" b="0">
                <a:solidFill>
                  <a:srgbClr val="FBBF24"/>
                </a:solidFill>
                <a:latin typeface="Malgun Gothic"/>
              </a:defRPr>
            </a:pPr>
            <a:r>
              <a:t>  - 박스판매 (BP_SaD_Count)</a:t>
            </a:r>
          </a:p>
          <a:p>
            <a:pPr>
              <a:spcAft>
                <a:spcPts val="200"/>
              </a:spcAft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  + 박스입고 (BP_InD_Count)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Alternative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9496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4a  엑셀 대량 매입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     → Frm_PurchaseExcelCall 일괄 입력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5a  신규 상품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     → Frm_Purchase_New_Product 등록 후 매입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8a  매입 취소</a:t>
            </a:r>
          </a:p>
          <a:p>
            <a:pPr>
              <a:spcAft>
                <a:spcPts val="200"/>
              </a:spcAft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     → 재고 감소, InD 삭제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6400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UC-P03: POS 판매 Main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판매원 (캐셔)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핵심 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Frm_SaleMain (~16,000줄)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SaT/SaD_{YYYYMM}, LastSt_{YYYYMM}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188720"/>
            <a:ext cx="5669280" cy="530352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1. POS 판매 화면 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105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2. 영업일 결정 (새벽 4시 기준)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494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3. 월별 동적 테이블 확인/생성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883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4. HW 초기화 (CDP, 스캐너, MSR)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272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Malgun Gothic"/>
              </a:defRPr>
            </a:pPr>
            <a:r>
              <a:t>5. 상품 바코드 스캔 / 핫키 / 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6. Goods 테이블 상품 정보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050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7. 판매 그리드에 상품 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43983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8. 박스 상품 OBTAIN 수량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828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9. (반복) 추가 상품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218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Malgun Gothic"/>
              </a:defRPr>
            </a:pPr>
            <a:r>
              <a:t>10. 회원 할인 적용 (MEM_SalePrice)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188720"/>
            <a:ext cx="5669280" cy="530352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11. 금액/비율 할인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105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Malgun Gothic"/>
              </a:defRPr>
            </a:pPr>
            <a:r>
              <a:t>12. 총금액 계산: 소계-할인+봉사료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494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Malgun Gothic"/>
              </a:defRPr>
            </a:pPr>
            <a:r>
              <a:t>13. 결제 수단 선택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883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     현금 / 카드 / 포인트 / 상품권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272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Malgun Gothic"/>
              </a:defRPr>
            </a:pPr>
            <a:r>
              <a:t>14. 결제 처리 → UC-P04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Malgun Gothic"/>
              </a:defRPr>
            </a:pPr>
            <a:r>
              <a:t>15. SaT_{YYYYMM} INSERT (판매총계)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050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Malgun Gothic"/>
              </a:defRPr>
            </a:pPr>
            <a:r>
              <a:t>16. SaD_{YYYYMM} INSERT (판매상세)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43983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Malgun Gothic"/>
              </a:defRPr>
            </a:pPr>
            <a:r>
              <a:t>17. LastSt Real_Sto 차감 (재고)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8828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18. 영수증 출력 (Mdl_Printer)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218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19. 현금 시 서랍 자동 개방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전표번호: POS번호(2) + 년월일(8) + 시분초(6) + 순번(5)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6400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UC-P04: 결제 처리 (VAN 12사 연동)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카드 결제 Main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943600" cy="50292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algun Gothic"/>
              </a:defRPr>
            </a:pPr>
            <a:r>
              <a:t>1. VAN사 확인 (VAN_SELECT 설정값)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842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algun Gothic"/>
              </a:defRPr>
            </a:pPr>
            <a:r>
              <a:t>2. VAN별 결제 폼 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14015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Malgun Gothic"/>
              </a:defRPr>
            </a:pPr>
            <a:r>
              <a:t>3. 카드 리딩 (MSR 스와이프 / IC칩 / 키인)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437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algun Gothic"/>
              </a:defRPr>
            </a:pPr>
            <a:r>
              <a:t>4. 할부 개월 선택 (00=일시불 ~ 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735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Malgun Gothic"/>
              </a:defRPr>
            </a:pPr>
            <a:r>
              <a:t>5. 승인 요청 전문 생성 (TID/금액/카드정보)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6. 서명패드 전자서명 획득 (5만원 이상)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7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7. VAN DLL 호출 → VAN 서버 전송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6285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8. 카드사 승인/거절 응답 수신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926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9. CARD_TRAN 테이블 INSERT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223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algun Gothic"/>
              </a:defRPr>
            </a:pPr>
            <a:r>
              <a:t>10. SaT.Card_Pri UPDATE + 영수증 출력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지원 VAN 12사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371600"/>
            <a:ext cx="5394960" cy="50292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1463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VAN사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DLL/OCX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방식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828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NICE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NicePosV205.dll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1828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1762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KSNET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176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KSNet_ADSL.dll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21762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TCP/IP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5237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KICC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5237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Kicc.dll + KiccDSC.ocx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25237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OCX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8712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KIS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8712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KisCatSSL.dll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2871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SSL+BC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2186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SMARTRO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218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SmartroSign.dll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2186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NFC/T-money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566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FDIK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fdikpos43.dll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현금영수증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9136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  <a:latin typeface="Malgun Gothic"/>
              </a:defRPr>
            </a:pPr>
            <a:r>
              <a:t>JTNET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913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NCPOS.dll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3913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서명패드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2611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  <a:latin typeface="Malgun Gothic"/>
              </a:defRPr>
            </a:pPr>
            <a:r>
              <a:t>KCP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2611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KCPOCX.ocx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42611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OCX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6085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  <a:latin typeface="Malgun Gothic"/>
              </a:defRPr>
            </a:pPr>
            <a:r>
              <a:t>KOCES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46085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API 방식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46085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9560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  <a:latin typeface="Malgun Gothic"/>
              </a:defRPr>
            </a:pPr>
            <a:r>
              <a:t>KOVAN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49560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kovan_signpad.ocx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4956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OCX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5303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  <a:latin typeface="Malgun Gothic"/>
              </a:defRPr>
            </a:pPr>
            <a:r>
              <a:t>SPC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5303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SPCNSecuCAT.ocx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5303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OCX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56509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  <a:latin typeface="Malgun Gothic"/>
              </a:defRPr>
            </a:pPr>
            <a:r>
              <a:t>StarVAN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5650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StarVAN.ocx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56509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OCX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현금 결제: 투입 → 거스름돈 → 현금영수증(선택) → 서랍개방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8229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KIOSK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UC-K01: 키오스크 주문 플로우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고객 (셀프)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핵심 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Frm_SelfKiosk (~4,700줄)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해상도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1080 x 1920 (세로)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28016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5760" y="1371600"/>
            <a:ext cx="8229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대기화면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240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imgStartPage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'화면을 터치하세요'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71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터치 시 메인화면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26080" y="2286000"/>
            <a:ext cx="27432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00400" y="128016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91840" y="1371600"/>
            <a:ext cx="8229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2단계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카테고리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240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탭 4개 + 좌우 스크롤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labSelfTab(0~3)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971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L_Code 기준 조회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52160" y="2286000"/>
            <a:ext cx="27432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26480" y="128016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1371600"/>
            <a:ext cx="82296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3단계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상품선택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240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12개/페이지 그리드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Image1(0~11) 터치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971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품절: imgSoldOut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778240" y="2286000"/>
            <a:ext cx="274320" cy="2743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52560" y="128016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44000" y="1371600"/>
            <a:ext cx="8229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4단계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옵션선택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240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frm_SelfGoods 모달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사이즈/토핑/샷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971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OrderKiosk.sOPBarcods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384048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65760" y="3931920"/>
            <a:ext cx="8229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5단계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장바구니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800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fg21List (VSFlexGrid)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20컬럼: 상품명/수량/합계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5532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[-] [+] [x] 수량 조정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926080" y="4846320"/>
            <a:ext cx="27432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200400" y="384048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291840" y="3931920"/>
            <a:ext cx="82296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6단계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결제선택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4800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'결제하기' 버튼 터치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Frm_SelfOrderList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5532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카드 또는 현금 선택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852160" y="4846320"/>
            <a:ext cx="274320" cy="274320"/>
          </a:xfrm>
          <a:prstGeom prst="right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126480" y="384048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217920" y="3931920"/>
            <a:ext cx="82296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7단계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결제처리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800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카드: frm_SelfCard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현금: Frm_SelfCash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5532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VAN DLL 호출 (POS 동일)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8778240" y="4846320"/>
            <a:ext cx="274320" cy="274320"/>
          </a:xfrm>
          <a:prstGeom prst="right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052560" y="384048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144000" y="3931920"/>
            <a:ext cx="8229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8단계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972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DB저장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9720" y="4800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SaT/SaD INSERT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972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LastSt 재고 차감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9720" y="5532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CARD_TRAN 거래 로그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8229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KIOSK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UC-K01: 키오스크 주문 플로우 (2/2) - 완료 &amp; 복귀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82296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9단계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영수증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Mdl_Printer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ESC/POS 프린터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88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상품목록+합계+승인번호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2103120"/>
            <a:ext cx="274320" cy="2743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00400" y="109728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91840" y="1188720"/>
            <a:ext cx="8229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10단계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주방 전송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네트워크/DB 폴링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주문 데이터 전송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788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주방 디스플레이 표시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52160" y="2103120"/>
            <a:ext cx="274320" cy="27432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0" y="109728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7920" y="1188720"/>
            <a:ext cx="8229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11단계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완료 화면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frm_SelfPrint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완료 GIF 애니메이션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88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음성: '승인완료되었습니다'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78240" y="2103120"/>
            <a:ext cx="27432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052560" y="1097280"/>
            <a:ext cx="265176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44000" y="1188720"/>
            <a:ext cx="8229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12단계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자동 복귀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30초 카운트다운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Frm_SelfEnd → initmain()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788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장바구니 초기화 → 대기화면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Alternative 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114800"/>
            <a:ext cx="11430000" cy="2286000"/>
          </a:xfrm>
          <a:prstGeom prst="roundRect">
            <a:avLst/>
          </a:prstGeom>
          <a:solidFill>
            <a:srgbClr val="2734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251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Malgun Gothic"/>
              </a:defRPr>
            </a:pPr>
            <a:r>
              <a:t>4a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251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상품 품절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251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imgSoldOut 오버레이 표시, 선택 불가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5079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Malgun Gothic"/>
              </a:defRPr>
            </a:pPr>
            <a:r>
              <a:t>5a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5079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옵션 없는 상품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5079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옵션 모달 건너뛰고 바로 장바구니 추가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76402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Malgun Gothic"/>
              </a:defRPr>
            </a:pPr>
            <a:r>
              <a:t>10a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47640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바코드 스캔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76402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txt_Input_KeyDown → addBarcode() 호출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02005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11a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0200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VAN 타임아웃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02005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자동 재시도, 실패 시 에러 메시지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276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11b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276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카드 잔액 부족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27608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'잔액 부족' 메시지 → 결제 수단 재선택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5321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Malgun Gothic"/>
              </a:defRPr>
            </a:pPr>
            <a:r>
              <a:t>12a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532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네트워크 장애 (현금)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532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Access MDB 오프라인 모드, 동기화 대기열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7881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Malgun Gothic"/>
              </a:defRPr>
            </a:pPr>
            <a:r>
              <a:t>12b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57881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네트워크 장애 (카드)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57881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'카드 결제 불가' 메시지, 현금 결제 안내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04418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Malgun Gothic"/>
              </a:defRPr>
            </a:pPr>
            <a:r>
              <a:t>1a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60441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관리자 진입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604418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더블클릭 → 비밀번호 → pic관리자 패널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POS vs KIOSK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6032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08960" y="1097280"/>
            <a:ext cx="4114800" cy="457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0" y="1097280"/>
            <a:ext cx="4114800" cy="4572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61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1612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POS (Self_YN=0)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1612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KIOSK (Self_YN=1)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727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판매원 (캐셔)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5727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고객 (셀프)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20240"/>
            <a:ext cx="1097280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842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메인 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842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Frm_SaleMain (~16,000줄)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9842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Frm_SelfKiosk (~4,700줄)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95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상품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3957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바코드 스캔 + 핫키 + 검색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3957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터치 그리드 (12개/페이지)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1097280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8072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카테고리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8072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대/중/소 분류 트리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8072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탭 4개 + 좌우 스크롤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18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결제 수단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2186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현금+카드+포인트+상품권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2186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카드 + 현금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66160"/>
            <a:ext cx="1097280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6301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해상도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6301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1024 x 768 (가로)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6301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1080 x 1920 (세로)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416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매입/정산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0416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가능 (전용 폼)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0416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불가 (POS에서만)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389120"/>
            <a:ext cx="1097280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대기화면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4531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없음 (항상 판매)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4531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imgStartPage (터치 대기)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자동 복귀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864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없음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4864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30초 카운트다운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212080"/>
            <a:ext cx="1097280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276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주방 전송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2760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수동/자동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52760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자동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687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관리자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6875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메뉴 기반 전체 접근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56875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더블클릭 → 제한된 관리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6035040"/>
            <a:ext cx="1097280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6099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하드웨어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60990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CDP+스캐너+MSR+저울+서랍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60990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터치모니터+카드리더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마이그레이션 매핑: VB6 → Electron + Vue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45720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06240" y="1097280"/>
            <a:ext cx="27432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0" y="1097280"/>
            <a:ext cx="4572000" cy="4572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35440" y="1097280"/>
            <a:ext cx="27432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0" y="1097280"/>
            <a:ext cx="2103120" cy="457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1612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VB6 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1612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Vue 3 TOBE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1612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비고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1124712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664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Frm_SaleMain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7099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6642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SalesRegisterView.vue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1664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POS 판매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0756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Frm_SelfKiosk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12140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0756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MenuView.vue + CartView.vue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075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키오스크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423160"/>
            <a:ext cx="1124712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487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Frm_PurchaseManage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53288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4871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PurchaseRegisterView.vue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487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매입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8986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Frm_ProductUpdate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94436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8986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ProductsView.vue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898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상품 관리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246120"/>
            <a:ext cx="1124712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33101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Frm_SettlementManage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35584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3101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DashboardView.vue (정산 탭)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310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정산/마감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721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Frm_SaleCard_VCAT_*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7673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721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PaymentService (Strategy)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721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12 VAN → 4 VAN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069080"/>
            <a:ext cx="1124712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1330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InD/InT/SaD/SaT (월별)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17880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1330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Purchase/Order (단일 테이블)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4133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Prisma 모델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544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LastSt (이월재고)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459028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45445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PurchaseProduct.stock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4544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재고 필드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892040"/>
            <a:ext cx="1124712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49560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Goods (마스터)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500176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49560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Product + Category (M:N)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4956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정규화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3675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Office_Manage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541324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53675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Supplier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5367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거래처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715000"/>
            <a:ext cx="11247120" cy="411480"/>
          </a:xfrm>
          <a:prstGeom prst="round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" y="57790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Mdl_Printer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0" y="5824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57790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Electron IPC → ESC/POS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5779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프린터 서비스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1904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Malgun Gothic"/>
              </a:defRPr>
            </a:pPr>
            <a:r>
              <a:t>pos_config.ini / POS_Set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0" y="623620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54880" y="61904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algun Gothic"/>
              </a:defRPr>
            </a:pPr>
            <a:r>
              <a:t>SystemSetting + DeviceSetting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6190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2계층 설정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1316</Words>
  <Application>Microsoft Office PowerPoint</Application>
  <PresentationFormat>와이드스크린</PresentationFormat>
  <Paragraphs>364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bysub</cp:lastModifiedBy>
  <cp:revision>3</cp:revision>
  <dcterms:created xsi:type="dcterms:W3CDTF">2013-01-27T09:14:16Z</dcterms:created>
  <dcterms:modified xsi:type="dcterms:W3CDTF">2026-02-19T03:52:44Z</dcterms:modified>
  <cp:category/>
</cp:coreProperties>
</file>